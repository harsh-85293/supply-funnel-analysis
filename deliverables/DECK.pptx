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C0392B"/>
                </a:solidFill>
                <a:latin typeface="Calibri"/>
              </a:rPr>
              <a:t>SLIDE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95528"/>
            <a:ext cx="11185855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900" b="1" i="0">
                <a:solidFill>
                  <a:srgbClr val="1A1A1A"/>
                </a:solidFill>
                <a:latin typeface="Calibri"/>
              </a:rPr>
              <a:t>The ask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4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60396"/>
                <a:gridCol w="4925458"/>
              </a:tblGrid>
              <a:tr h="406908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1A1A1A"/>
                          </a:solidFill>
                          <a:latin typeface="Calibri"/>
                        </a:rPr>
                        <a:t>Signups, 1 Jan – 15 Jun 2026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1A1A1A"/>
                          </a:solidFill>
                          <a:latin typeface="Calibri"/>
                        </a:rPr>
                        <a:t>22,561 (~4,140 a month)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1A1A1A"/>
                          </a:solidFill>
                          <a:latin typeface="Calibri"/>
                        </a:rPr>
                        <a:t>Approved — Acquisition to Onboarded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17.6%</a:t>
                      </a:r>
                      <a:r>
                        <a:rPr sz="1100" i="0">
                          <a:solidFill>
                            <a:srgbClr val="1A1A1A"/>
                          </a:solidFill>
                          <a:latin typeface="Calibri"/>
                        </a:rPr>
                        <a:t> (728 a month)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1A1A1A"/>
                          </a:solidFill>
                          <a:latin typeface="Calibri"/>
                        </a:rPr>
                        <a:t>Approved captains who go on to drive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98.7%</a:t>
                      </a:r>
                      <a:r>
                        <a:rPr sz="1100" i="0">
                          <a:solidFill>
                            <a:srgbClr val="1A1A1A"/>
                          </a:solidFill>
                          <a:latin typeface="Calibri"/>
                        </a:rPr>
                        <a:t>, median 1.4 days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06908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1A1A1A"/>
                          </a:solidFill>
                          <a:latin typeface="Calibri"/>
                        </a:rPr>
                        <a:t>Recoverable with no new spend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+183 to +344 approvals a month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008376"/>
            <a:ext cx="11185855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00" b="1" i="0">
                <a:solidFill>
                  <a:srgbClr val="1A1A1A"/>
                </a:solidFill>
                <a:latin typeface="Calibri"/>
              </a:rPr>
              <a:t>Three decisions I need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429000"/>
            <a:ext cx="11185855" cy="193852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A1A1A"/>
                </a:solidFill>
                <a:latin typeface="Calibri"/>
              </a:rPr>
              <a:t>Fund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one product squad for six weeks on in-app document capture → </a:t>
            </a:r>
            <a:r>
              <a:rPr sz="1300" b="1" i="0">
                <a:solidFill>
                  <a:srgbClr val="1A1A1A"/>
                </a:solidFill>
                <a:latin typeface="Calibri"/>
              </a:rPr>
              <a:t>+81 to +134 approvals a month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A1A1A"/>
                </a:solidFill>
                <a:latin typeface="Calibri"/>
              </a:rPr>
              <a:t>Decline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the 5x budget for CAMP_WA_002 → the win is mostly who was on the list, and 5x is arithmetically impossible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300" b="1" i="0">
                <a:solidFill>
                  <a:srgbClr val="1A1A1A"/>
                </a:solidFill>
                <a:latin typeface="Calibri"/>
              </a:rPr>
              <a:t>Decline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 airport-catchment acquisition → fund a night-window incentive instead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422392"/>
            <a:ext cx="11185855" cy="38404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00" b="0" i="1">
                <a:solidFill>
                  <a:srgbClr val="1A1A1A"/>
                </a:solidFill>
                <a:latin typeface="Calibri"/>
              </a:rPr>
              <a:t>Registered-to-Active looks after itself. Onboarding is the whole game.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Captain Acquisition, Supply  —  30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47395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C0392B"/>
                </a:solidFill>
                <a:latin typeface="Calibri"/>
              </a:rPr>
              <a:t>SLIDE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95528"/>
            <a:ext cx="11185855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900" b="1" i="0">
                <a:solidFill>
                  <a:srgbClr val="1A1A1A"/>
                </a:solidFill>
                <a:latin typeface="Calibri"/>
              </a:rPr>
              <a:t>Nine in ten captains we lose were never rejected. They stopped.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2" cy="27249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30331"/>
                <a:gridCol w="727312"/>
                <a:gridCol w="727312"/>
                <a:gridCol w="539686"/>
                <a:gridCol w="4785505"/>
                <a:gridCol w="864342"/>
                <a:gridCol w="611364"/>
              </a:tblGrid>
              <a:tr h="389273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Where the loss sits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Lost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How the 18,180 dropouts left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Captains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Registration Certificate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5,433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Passed one document, never started the next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9,727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53.5%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Insurance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Rejected once, never tried again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6,791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37.4%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Fitness Certificate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2,669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Never uploaded anything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1,425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Permit </a:t>
                      </a:r>
                      <a:r>
                        <a:rPr sz="1000" b="0" i="1">
                          <a:solidFill>
                            <a:srgbClr val="1A1A1A"/>
                          </a:solidFill>
                          <a:latin typeface="Calibri"/>
                        </a:rPr>
                        <a:t>(Auto/Cab)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2,630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Ran out of their 3 attempts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237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A1A1A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9273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Driving Licence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2,594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9274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Aadhaar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1,546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05656"/>
            <a:ext cx="11185855" cy="6217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00" b="1" i="0">
                <a:solidFill>
                  <a:srgbClr val="1A1A1A"/>
                </a:solidFill>
                <a:latin typeface="Calibri"/>
              </a:rPr>
              <a:t>Only 1.3% of the captains we lose are a policy decision. The other 98.7% is friction we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64024"/>
            <a:ext cx="11185855" cy="8595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Calibri"/>
              </a:rPr>
              <a:t>The Registration Certificate is the worst step in the business — 17% of submissions fail there. Insurance is second, and hurts more, because those captains had already cleared everything else.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Captain Acquisition, Supply  —  30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C0392B"/>
                </a:solidFill>
                <a:latin typeface="Calibri"/>
              </a:rPr>
              <a:t>SLIDE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95528"/>
            <a:ext cx="11185855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900" b="1" i="0">
                <a:solidFill>
                  <a:srgbClr val="1A1A1A"/>
                </a:solidFill>
                <a:latin typeface="Calibri"/>
              </a:rPr>
              <a:t>Cheap phones fail on paper documents, not on cards</a:t>
            </a:r>
          </a:p>
        </p:txBody>
      </p:sp>
      <p:pic>
        <p:nvPicPr>
          <p:cNvPr id="4" name="Picture 3" descr="device_document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533" y="1234440"/>
            <a:ext cx="6682628" cy="3072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453128"/>
            <a:ext cx="11185855" cy="40782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0" i="0">
                <a:solidFill>
                  <a:srgbClr val="1A1A1A"/>
                </a:solidFill>
                <a:latin typeface="Calibri"/>
              </a:rPr>
              <a:t>The three affected documents are full-page paper covered in small print. The three unaffected ones are pocket-sized laminated cards. </a:t>
            </a:r>
            <a:r>
              <a:rPr sz="900" b="1" i="0">
                <a:solidFill>
                  <a:srgbClr val="1A1A1A"/>
                </a:solidFill>
                <a:latin typeface="Calibri"/>
              </a:rPr>
              <a:t>46% of our signups are on basic handsets.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97526"/>
            <a:ext cx="11185855" cy="1115567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Captains who try again mostly get through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 — 79% eventually pass the Registration Certificate</a:t>
            </a:r>
          </a:p>
          <a:p>
            <a:pPr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Our rejection message does no work: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 captains retry about 62% of the time whichever of the seven reasons they were given. "Blurred photo" and "document expired" produce identical behaviour.</a:t>
            </a:r>
          </a:p>
          <a:p>
            <a:pPr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Tested and rejected: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 verification speed is not the problem. Checked within 2 hours, captains continue at 84.0%; after more than a day, 84.1%. Do not fund a queue-speed project.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Captain Acquisition, Supply  —  30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C0392B"/>
                </a:solidFill>
                <a:latin typeface="Calibri"/>
              </a:rPr>
              <a:t>SLIDE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95528"/>
            <a:ext cx="11185855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900" b="1" i="0">
                <a:solidFill>
                  <a:srgbClr val="1A1A1A"/>
                </a:solidFill>
                <a:latin typeface="Calibri"/>
              </a:rPr>
              <a:t>CAMP_WA_002 is not an 18-point win. It is a list of survivors.</a:t>
            </a:r>
          </a:p>
        </p:txBody>
      </p:sp>
      <p:pic>
        <p:nvPicPr>
          <p:cNvPr id="4" name="Picture 3" descr="campaig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148" y="1234440"/>
            <a:ext cx="4525399" cy="19458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326587"/>
            <a:ext cx="11185855" cy="40782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>
                <a:solidFill>
                  <a:srgbClr val="1A1A1A"/>
                </a:solidFill>
                <a:latin typeface="Calibri"/>
              </a:rPr>
              <a:t>It only goes out once a captain has cleared two documents — none of the 7,981 recipients got it earlier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, and clearing the Licence and Registration Certificate is where 44% of our loss happens.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3770985"/>
          <a:ext cx="11185853" cy="19933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64289"/>
                <a:gridCol w="1377967"/>
                <a:gridCol w="3343597"/>
              </a:tblGrid>
              <a:tr h="39867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Two checks a real message effect must pass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Approved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Message delivered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← no difference vs...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Message </a:t>
                      </a:r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failed to send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Tapped the message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30.8%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← no dose-response vs...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8680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Ignored 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32.0%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10681"/>
            <a:ext cx="11185855" cy="277063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>
                <a:solidFill>
                  <a:srgbClr val="1A1A1A"/>
                </a:solidFill>
                <a:latin typeface="Calibri"/>
              </a:rPr>
              <a:t>On 5x: it already reaches 55% of everyone eligible — full coverage is &lt;2x, not 5x.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Extend it (WhatsApp is nearly free), but hold 20% back as a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Captain Acquisition, Supply  —  30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47395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C0392B"/>
                </a:solidFill>
                <a:latin typeface="Calibri"/>
              </a:rPr>
              <a:t>SLIDE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95528"/>
            <a:ext cx="11185855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900" b="1" i="0">
                <a:solidFill>
                  <a:srgbClr val="1A1A1A"/>
                </a:solidFill>
                <a:latin typeface="Calibri"/>
              </a:rPr>
              <a:t>The airport isn't short of captains. It's short of captains at night.</a:t>
            </a:r>
          </a:p>
        </p:txBody>
      </p:sp>
      <p:pic>
        <p:nvPicPr>
          <p:cNvPr id="4" name="Picture 3" descr="airport_hour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004" y="1563624"/>
            <a:ext cx="3125686" cy="18207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3530681"/>
            <a:ext cx="11185855" cy="713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•  Terminals fill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59.8%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 of requests against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96–97%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 everywhere else in the city — but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86% of that shortfall is 8pm–4am</a:t>
            </a:r>
          </a:p>
          <a:p>
            <a:pPr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48,720 captain-hours going spare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 in hours already covered, against a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17,979-hour shortfall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 at night — three times more waste than shortage</a:t>
            </a:r>
          </a:p>
          <a:p>
            <a:pPr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  <a:latin typeface="Calibri"/>
              </a:rPr>
              <a:t>•  One extra captain online at night converts to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1.31 extra rides</a:t>
            </a:r>
            <a:r>
              <a:rPr sz="1000" b="0" i="0">
                <a:solidFill>
                  <a:srgbClr val="1A1A1A"/>
                </a:solidFill>
                <a:latin typeface="Calibri"/>
              </a:rPr>
              <a:t>; at midday, </a:t>
            </a:r>
            <a:r>
              <a:rPr sz="1000" b="1" i="0">
                <a:solidFill>
                  <a:srgbClr val="1A1A1A"/>
                </a:solidFill>
                <a:latin typeface="Calibri"/>
              </a:rPr>
              <a:t>0.19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8776"/>
            <a:ext cx="11185855" cy="277063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>
                <a:solidFill>
                  <a:srgbClr val="1A1A1A"/>
                </a:solidFill>
                <a:latin typeface="Calibri"/>
              </a:rPr>
              <a:t>And more captains would worsen why they stay away.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Four in ten airport trips end in a suburb 23 km out: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4612415"/>
          <a:ext cx="11185852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83694"/>
                <a:gridCol w="664000"/>
                <a:gridCol w="2809232"/>
                <a:gridCol w="1864309"/>
                <a:gridCol w="3064617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Airport trip ends in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Another fare within 20 min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Captain declines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Pay per hour it ties them up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City centre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i="0">
                          <a:solidFill>
                            <a:srgbClr val="1A1A1A"/>
                          </a:solidFill>
                          <a:latin typeface="Calibri"/>
                        </a:rPr>
                        <a:t>₹263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Suburb (23 km out)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21.0%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1A1A1A"/>
                          </a:solidFill>
                          <a:latin typeface="Calibri"/>
                        </a:rPr>
                        <a:t>₹176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6020591"/>
            <a:ext cx="11185855" cy="277063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900" b="1" i="0">
                <a:solidFill>
                  <a:srgbClr val="1A1A1A"/>
                </a:solidFill>
                <a:latin typeface="Calibri"/>
              </a:rPr>
              <a:t>Acquisition buys headcount; it cannot buy hours</a:t>
            </a:r>
            <a:r>
              <a:rPr sz="900" b="0" i="0">
                <a:solidFill>
                  <a:srgbClr val="1A1A1A"/>
                </a:solidFill>
                <a:latin typeface="Calibri"/>
              </a:rPr>
              <a:t> — and ~a quarter of "unmet" airport demand is a captain who accepted, then cancelled.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Captain Acquisition, Supply  —  30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47395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100" b="1" i="0">
                <a:solidFill>
                  <a:srgbClr val="C0392B"/>
                </a:solidFill>
                <a:latin typeface="Calibri"/>
              </a:rPr>
              <a:t>SLIDE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95528"/>
            <a:ext cx="11185855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900" b="1" i="0">
                <a:solidFill>
                  <a:srgbClr val="1A1A1A"/>
                </a:solidFill>
                <a:latin typeface="Calibri"/>
              </a:rPr>
              <a:t>What starts Monday, and how we'll know it worked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85853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35323"/>
                <a:gridCol w="4870812"/>
                <a:gridCol w="1370352"/>
                <a:gridCol w="1915697"/>
                <a:gridCol w="2493669"/>
              </a:tblGrid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Worth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Cost &amp; lead time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How we'll know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In-app capture for the three paper documents: auto-capture, on-device blur check, worked example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+81–134 approvals/mo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 squad, 6 weeks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Unreadable-photo rejections per submission, by handset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Chase stalled captains; start with the 2,500 who cleared all but Insurance; pair with financed insurance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+90–181 approvals/mo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CRM + 1 partner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Approval rate against a </a:t>
                      </a:r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20% holdout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Move half the paid digital budget to referral — judged on orders per 100 signups, not approvals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+18 approvals/mo, more orders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Reallocation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Orders per 100 signups by channel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Pay existing captains to work the terminals 8pm–4am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232–387 rides/day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₹2.9–7.2 lakh/mo = </a:t>
                      </a:r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₹41–62 per ride</a:t>
                      </a:r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 vs ₹279 fare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Terminal fill rate 8pm–4am, </a:t>
                      </a:r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one terminal only at first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Guarantee a suburban-drop captain a ride waiting back at the terminal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₹176 → ₹216 per hour occupied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A1A1A"/>
                          </a:solidFill>
                          <a:latin typeface="Calibri"/>
                        </a:rPr>
                        <a:t>No cash cost</a:t>
                      </a:r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, 4–8 weeks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Suburban decline rate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739896"/>
            <a:ext cx="11185855" cy="8595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00" b="1" i="0">
                <a:solidFill>
                  <a:srgbClr val="1A1A1A"/>
                </a:solidFill>
                <a:latin typeface="Calibri"/>
              </a:rPr>
              <a:t>Not doing: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activation work (98.7% already drive) • verification speed (tested, no effect) • city programmes (2.9 points apart, vs 8.8 across handsets) • a blanket suburban bonus (nine to twelve times the fare per extra ride) • airport-catchment acquisition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36008"/>
            <a:ext cx="11185855" cy="6217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200" b="1" i="0">
                <a:solidFill>
                  <a:srgbClr val="1A1A1A"/>
                </a:solidFill>
                <a:latin typeface="Calibri"/>
              </a:rPr>
              <a:t>Total onboarding prize: +183 to +344 approvals a month on a base of 728 — and every point converts almost one-for-one into a driving captain.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0" i="0">
                <a:solidFill>
                  <a:srgbClr val="6B6B6B"/>
                </a:solidFill>
                <a:latin typeface="Calibri"/>
              </a:rPr>
              <a:t>Captain Acquisition, Supply  —  30 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