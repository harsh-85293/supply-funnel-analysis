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2.xml" ContentType="application/vnd.openxmlformats-officedocument.presentationml.notesSlide+xml"/>
  <Override PartName="/ppt/ink/ink4.xml" ContentType="application/inkml+xml"/>
  <Override PartName="/ppt/notesSlides/notesSlide3.xml" ContentType="application/vnd.openxmlformats-officedocument.presentationml.notesSlide+xml"/>
  <Override PartName="/ppt/ink/ink5.xml" ContentType="application/inkml+xml"/>
  <Override PartName="/ppt/notesSlides/notesSlide4.xml" ContentType="application/vnd.openxmlformats-officedocument.presentationml.notesSlide+xml"/>
  <Override PartName="/ppt/ink/ink6.xml" ContentType="application/inkml+xml"/>
  <Override PartName="/ppt/notesSlides/notesSlide5.xml" ContentType="application/vnd.openxmlformats-officedocument.presentationml.notesSlide+xml"/>
  <Override PartName="/ppt/ink/ink7.xml" ContentType="application/inkml+xml"/>
  <Override PartName="/ppt/notesSlides/notesSlide6.xml" ContentType="application/vnd.openxmlformats-officedocument.presentationml.notesSlide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Poppins Light" panose="00000400000000000000" pitchFamily="2" charset="0"/>
      <p:regular r:id="rId9"/>
    </p:embeddedFont>
    <p:embeddedFont>
      <p:font typeface="Roboto" panose="02000000000000000000" pitchFamily="2" charset="0"/>
      <p:regular r:id="rId10"/>
    </p:embeddedFont>
    <p:embeddedFont>
      <p:font typeface="Roboto Bold" panose="02000000000000000000" pitchFamily="2" charset="0"/>
      <p:bold r:id="rId11"/>
    </p:embeddedFont>
    <p:embeddedFont>
      <p:font typeface="Roboto Light" panose="02000000000000000000" pitchFamily="2" charset="0"/>
      <p:regular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644" y="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26.43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364 1 24542,'0'177'0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32.10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50 24575,'213'2'0,"387"-14"0,-284 6 0,-114 4 0,-175 0 0,54-11 0,-56 8 0,1 0 0,40-1 0,40 6 0,187 3 0,-104 12 0,-188-14 0,0-1 0,0 0 0,0 1 0,0-1 0,0 1 0,0-1 0,0 1 0,0-1 0,0 1 0,0 0 0,0-1 0,0 1 0,0 0 0,0 0 0,0 0 0,0 0 0,-1 0 0,1 0 0,0 0 0,0 1 0,11 28 0,-5-13 0,6 21 0,-10-29 0,0 0 0,0 0 0,8 14 0,-6-15 0,-2-5 0,-1 1 0,0-1 0,0 1 0,0 0 0,0 0 0,2 6 0,-4-9 0,-1 0 0,1 0 0,0 0 0,-1 0 0,1 0 0,-1 0 0,0-1 0,1 1 0,-1 0 0,0 0 0,1 0 0,-1-1 0,0 1 0,0 0 0,0-1 0,1 1 0,-1-1 0,0 1 0,0-1 0,0 1 0,0-1 0,0 0 0,0 0 0,0 1 0,0-1 0,0 0 0,-1 0 0,-30 4 0,30-4 0,-86 1 0,1-3 0,-124-20 0,141 11 0,0 4 0,-132 2 0,142 7 0,0-2 0,-118-17 0,158 15 0,-1 0 0,-1 2 0,1 0 0,0 1 0,0 1 0,1 1 0,-1 1 0,0 1 0,-25 10 0,30-11 0,0-1 0,0 0 0,0-1 0,-29-1 0,27 0 0,-1 0 0,-36 6 0,18 1 0,-59 3 0,3-1 0,58-4 0,9-1 0,0-1 0,-44 1 0,-138-1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34.16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0 81 24575,'10'-1'0,"0"0"0,-1-1 0,1 0 0,12-4 0,10-3 0,0 2 0,187-34 0,-172 35 0,0 2 0,81 3 0,-47 10 0,25 1 0,-55-10 0,-11-1 0,-1 2 0,77 12 0,-85-2 0,-25-9 0,-1 1 0,1-1 0,0-1 0,0 1 0,5 0 0,170 3 0,-25-2 0,-87-1 0,-50-2 0,0 0 0,1 1 0,-1 1 0,31 7 0,-11 0 0,-31-8 0,0 0 0,-1 0 0,1 1 0,-1 1 0,0-1 0,0 1 0,11 6 0,-11-5 0,0 0 0,0-1 0,0 0 0,0-1 0,1 1 0,-1-1 0,1-1 0,7 1 0,65 2 0,-35-3 0,-40-1 81,12 1 151,-17-1-288,1 0 0,-1 0 0,1-1 0,-1 1 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21.24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57 64 24575,'513'5'0,"-274"9"0,-194-12 0,11 1 0,99-7 0,41-8 0,-20 1 0,-104 8 0,-42 3 0,34-5 0,71-8 0,17-2 0,-89 5 0,82-3 0,-117 13 0,2-1 0,0 1 0,32 4 0,74 15 0,-135-19 0,0 0 0,1 1 0,-1-1 0,0 1 0,0-1 0,0 1 0,1-1 0,-1 1 0,0 0 0,0 0 0,0-1 0,0 1 0,0 0 0,0 0 0,0 0 0,0 0 0,-1 0 0,1 0 0,1 2 0,9 25 0,-6-15 0,-5-12 0,0-1 0,1 1 0,-1-1 0,0 0 0,1 1 0,-1-1 0,1 1 0,-1-1 0,1 0 0,-1 1 0,0-1 0,1 0 0,-1 1 0,1-1 0,-1 0 0,1 0 0,0 1 0,-1-1 0,1 0 0,-1 0 0,1 0 0,-1 0 0,1 0 0,0 0 0,0 0 0,-1 0 0,1 0 0,-1 0 0,1 0 0,0 0 0,-1 0 0,1 1 0,-1-1 0,1 0 0,-1 0 0,0 0 0,1 0 0,-1 1 0,1-1 0,-1 0 0,1 1 0,-1-1 0,1 0 0,-1 1 0,0-1 0,1 0 0,-1 1 0,0-1 0,1 1 0,-1-1 0,0 0 0,0 1 0,1-1 0,-1 1 0,0-1 0,0 1 0,0-1 0,0 1 0,0-1 0,0 1 0,1 0 0,-1 20 0,4 24 0,-4-42 0,0-1 0,1 0 0,-1 1 0,1-1 0,0 0 0,0 0 0,0 0 0,0 0 0,0 0 0,0 0 0,0 0 0,1 0 0,-1 0 0,4 3 0,-4-4 0,0-1 0,0 1 0,1-1 0,-1 1 0,0-1 0,0 0 0,0 1 0,0-1 0,1 0 0,-1 0 0,0 0 0,0 0 0,1 0 0,-1 0 0,0 0 0,0 0 0,0 0 0,1-1 0,-1 1 0,0 0 0,0-1 0,2 0 0,27-18 0,-12 8 0,-18 11 0,0 0 0,0 0 0,0 0 0,0-1 0,0 1 0,0 0 0,1 0 0,-1 0 0,0 0 0,0 0 0,0 0 0,0 0 0,0 0 0,0 0 0,0 0 0,1-1 0,-1 1 0,0 0 0,0 0 0,0 0 0,0 0 0,0 0 0,0 0 0,1 0 0,-1 0 0,0 0 0,0 0 0,0 0 0,0 0 0,0 0 0,1 0 0,-1 0 0,0 0 0,0 1 0,0-1 0,0 0 0,0 0 0,0 0 0,1 0 0,-1 0 0,0 0 0,0 0 0,0 0 0,0 0 0,0 0 0,0 1 0,0-1 0,0 0 0,0 0 0,0 0 0,1 0 0,-1 0 0,0 0 0,0 1 0,-7 7 0,-25 13 0,-1-3 0,-1 0 0,-54 19 0,51-22 0,-19 10 0,27-11 0,-47 15 0,71-28 0,1-1 0,0 0 0,-1 0 0,1 0 0,0-1 0,0 1 0,-1-1 0,1 0 0,0 0 0,0-1 0,0 1 0,-7-4 0,-26-7 0,-7 7 0,-60 0 0,11 2 0,-21-1 0,68 5 0,-84-12 0,48-1 0,-1 3 0,-87 2 0,-166 19 0,43-9 0,160-4 0,-131 10 0,255-8 0,0 1 0,0 0 0,0 0 0,-13 6 0,14-5 0,1 0 0,-1 0 0,0-1 0,0 0 0,0-1 0,-13 1 0,9-3 205,8 1-430,1 0 1,-1 0 0,1 0 0,-1 0-1,1 0 1,-6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14.175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42 67 24575,'108'-8'0,"-45"3"0,-31 3 0,386-10 0,-356 11 0,103-12 0,-140 10 0,126-5 0,-26 2 0,-3-2 0,146 9 0,-96 19 0,98-3 0,-245-15 0,57 3 0,93-6 0,-84-8 0,-88 9 0,0 0 0,0 0 0,0 0 0,0 0 0,0 1 0,-1-1 0,1 1 0,0 0 0,0 0 0,0 0 0,-1 0 0,1 0 0,-1 0 0,1 1 0,-1-1 0,1 1 0,-1 0 0,0 0 0,0 0 0,0 0 0,0 0 0,0 0 0,0 1 0,0-1 0,-1 0 0,1 1 0,-1 0 0,2 4 0,31 52 0,-12-31 0,-19-24 0,0-1 0,0 1 0,0-1 0,0 1 0,-1 0 0,1 0 0,-1 0 0,2 5 0,-3-7 0,-1-1 0,1 1 0,0-1 0,0 1 0,0-1 0,0 0 0,1 0 0,-1 0 0,0 0 0,0 0 0,1 0 0,2 2 0,-3-3 0,0 1 0,0 0 0,0-1 0,0 1 0,0 0 0,0 0 0,0 0 0,-1-1 0,1 1 0,0 0 0,0 0 0,1 3 0,-3-3 0,1 0 0,0 0 0,-1 1 0,1-1 0,-1 0 0,1 0 0,-1 0 0,0 0 0,0 0 0,1 0 0,-1 0 0,0 0 0,0 0 0,0 0 0,0 0 0,0 0 0,0-1 0,-2 2 0,-21 12 0,14-12 0,-1 0 0,0-1 0,0 0 0,0-1 0,1 0 0,-14-3 0,7 2 0,-49-8 0,45 6 0,-44-3 0,42 7 0,0 1 0,0 2 0,-23 6 0,-3 0 0,30-8 0,0 0 0,-26-2 0,-10 1 0,5 2 0,27-2 0,1 0 0,-1 2 0,0 0 0,-38 12 0,40-9 0,1-1 0,-1 0 0,0-2 0,-32 2 0,-89-5 0,62-2 0,-386 6 0,364 4 0,74-4 0,0-2 0,0-1 0,-31-2 0,-57-16 0,-29-3 0,48 8 0,-22-2 0,85 10 0,26 3 0,1 0 0,-1 1 0,1-1 0,-13 2 0,-30 4 0,-46 8 342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2:07.748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27 10 24575,'1337'0'0,"-1269"-5"0,-50 3 0,-1 0 0,1 1 0,25 3 0,184 16 0,-84-8 0,14 1 0,11-2 0,-1-1 0,-109-7 0,-42-3 0,6 0 0,-21 2 0,-1 1 0,0-1 0,1 0 0,-1 0 0,1 0 0,-1 0 0,1 1 0,-1-1 0,0 0 0,1 0 0,-1 1 0,0-1 0,1 0 0,-1 1 0,0-1 0,1 0 0,-1 1 0,0-1 0,1 1 0,-1-1 0,0 0 0,0 1 0,0-1 0,0 1 0,1-1 0,-1 1 0,0-1 0,0 1 0,0-1 0,0 1 0,0-1 0,0 0 0,0 1 0,0-1 0,0 1 0,0-1 0,-1 2 0,0 19 0,0 0 0,3 22 0,0 2 0,-2-44 0,0 1 0,-1-1 0,1 0 0,0 0 0,-1 0 0,1 0 0,-1 1 0,1-1 0,-1 0 0,0 0 0,1 0 0,-1 0 0,0 0 0,0 0 0,0-1 0,0 1 0,0 0 0,0 0 0,0-1 0,0 1 0,0 0 0,0-1 0,0 1 0,0-1 0,0 0 0,-2 1 0,-35 9 0,31-9 0,-175 24 0,91-13 0,41-8 0,-1-2 0,-77-7 0,80 1 0,23 1 0,-48 0 0,-16 11 0,-32 1 0,80-6 0,1 3 0,0 1 0,-39 12 0,36-8 0,7-3 0,1-1 0,-72 5 0,70-11 0,-226-1 0,-28-13 0,157 14 0,72 1 0,-120-11 0,148 5 0,-43 2 0,7 1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1:58.9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258 122 24575,'14'-1'0,"-1"0"0,22-5 0,10-2 0,368-15 0,2 21 0,-333 3 0,265-17 0,-139-5 0,-188 18 0,-1 0 0,20-7 0,20-3 0,24 3 0,0 5 0,122 7 0,-162 1 0,-1 2 0,0 2 0,0 1 0,-1 3 0,53 20 0,-91-29 0,-1 0 0,1 0 0,-1 0 0,1 0 0,-1 1 0,0-1 0,0 1 0,0-1 0,0 1 0,0 0 0,0 0 0,1 4 0,13 19 0,24 8 0,-33-30 0,-1 1 0,1 0 0,-1 0 0,0 0 0,-1 1 0,1 0 0,-1 0 0,0 0 0,-1 1 0,0-1 0,6 13 0,-4 16 0,-6-32 0,0-1 0,0 0 0,0 1 0,0-1 0,0 1 0,0-1 0,-1 1 0,1-1 0,-1 1 0,1-1 0,-1 0 0,-1 3 0,-1-4 0,0 0 0,1 0 0,-1 0 0,0-1 0,0 1 0,0-1 0,1 1 0,-1-1 0,0 0 0,0 0 0,0 0 0,-5-2 0,-1 2 0,-668-1 0,567 0 0,-207 12 0,288-7 0,0-2 0,0-1 0,0-1 0,-45-5 0,10-8 0,34 7 0,0 0 0,-1 2 0,-48 0 0,-38 12 0,-51 0 0,106-5 0,1 3 0,-84 17 0,2 0 0,115-21 0,1-1 0,-1-1 0,0-1 0,1-2 0,-51-11 0,43 9 0,-1 1 0,0 3 0,-65 4 0,1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0:31:53.279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 0 24575,'703'9'0,"-535"-9"0,313 5 0,-261 6 0,-2-6 0,-16-2 0,-51-6 0,-83-1 0,-7 9 0,-6 0 0,-17-7 0,-26 1 0,0 0 0,0 0 0,0 2 0,0-1 0,0 2 0,20 4 0,-30-6 0,-1 1 0,0 0 0,1-1 0,-1 1 0,0 0 0,0 0 0,1 0 0,-1 0 0,0 0 0,0 0 0,0 0 0,0 0 0,0 0 0,0 1 0,-1-1 0,1 0 0,0 1 0,-1-1 0,1 0 0,-1 1 0,1 2 0,2 34 0,-2-14 0,0 8 0,-2-29 0,1 1 0,0 0 0,0 0 0,0-1 0,0 1 0,1 0 0,0 0 0,-1-1 0,1 1 0,0-1 0,1 1 0,-1-1 0,1 1 0,-1-1 0,1 0 0,0 0 0,0 0 0,1 0 0,-1 0 0,4 4 0,-5-7 0,-1 0 0,1 1 0,-1-1 0,1 1 0,-1-1 0,1 0 0,-1 1 0,0-1 0,1 1 0,-1-1 0,0 1 0,1-1 0,-1 1 0,0-1 0,0 1 0,0-1 0,1 1 0,-1 0 0,0-1 0,0 1 0,0-1 0,0 1 0,0 0 0,0-1 0,0 1 0,0-1 0,0 1 0,0 0 0,-1-1 0,1 1 0,0-1 0,-1 2 0,0-1 0,0 1 0,0 0 0,-1-1 0,1 1 0,-1-1 0,1 0 0,-1 1 0,0-1 0,-3 2 0,-6 3 0,-1-1 0,-15 5 0,26-10 0,-15 5 0,1-2 0,-1 0 0,-1 0 0,-29 0 0,-67-8 0,67 2 0,0 2 0,19 1 0,-30-4 0,-32-16 0,-151 7 0,182 11 0,-67-9 0,-25 0 0,114 13 0,0 2 0,1 2 0,-51 14 0,50-11 0,-2-1 0,-66 6 0,1-17 0,24 0 0,-74 4 0,-115-1 0,127 1 0,-36-2 0,156 1 0,0 1 0,-34 6 0,35-4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16744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.xml"/><Relationship Id="rId11" Type="http://schemas.openxmlformats.org/officeDocument/2006/relationships/image" Target="../media/image7.png"/><Relationship Id="rId5" Type="http://schemas.openxmlformats.org/officeDocument/2006/relationships/image" Target="../media/image4.svg"/><Relationship Id="rId10" Type="http://schemas.openxmlformats.org/officeDocument/2006/relationships/customXml" Target="../ink/ink3.xml"/><Relationship Id="rId4" Type="http://schemas.openxmlformats.org/officeDocument/2006/relationships/image" Target="../media/image3.sv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customXml" Target="../ink/ink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customXml" Target="../ink/ink6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customXml" Target="../ink/ink7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customXml" Target="../ink/ink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9290"/>
            <a:ext cx="10868745" cy="427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The Ask</a:t>
            </a:r>
            <a:endParaRPr lang="en-US" sz="2650" dirty="0"/>
          </a:p>
        </p:txBody>
      </p:sp>
      <p:sp>
        <p:nvSpPr>
          <p:cNvPr id="3" name="Shape 1"/>
          <p:cNvSpPr/>
          <p:nvPr/>
        </p:nvSpPr>
        <p:spPr>
          <a:xfrm>
            <a:off x="562854" y="1107281"/>
            <a:ext cx="5464534" cy="5241429"/>
          </a:xfrm>
          <a:prstGeom prst="roundRect">
            <a:avLst>
              <a:gd name="adj" fmla="val 1881"/>
            </a:avLst>
          </a:prstGeom>
          <a:solidFill>
            <a:srgbClr val="1B1B27"/>
          </a:solidFill>
          <a:ln/>
        </p:spPr>
      </p:sp>
      <p:sp>
        <p:nvSpPr>
          <p:cNvPr id="4" name="Text 2"/>
          <p:cNvSpPr/>
          <p:nvPr/>
        </p:nvSpPr>
        <p:spPr>
          <a:xfrm>
            <a:off x="699772" y="1220688"/>
            <a:ext cx="5190697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Supply Funnel Snapshot — 1 Jan to 15 Jun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99772" y="1630759"/>
            <a:ext cx="5190697" cy="452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22,561</a:t>
            </a:r>
            <a:endParaRPr lang="en-US" sz="3550" dirty="0"/>
          </a:p>
        </p:txBody>
      </p:sp>
      <p:sp>
        <p:nvSpPr>
          <p:cNvPr id="6" name="Text 4"/>
          <p:cNvSpPr/>
          <p:nvPr/>
        </p:nvSpPr>
        <p:spPr>
          <a:xfrm>
            <a:off x="699772" y="2236291"/>
            <a:ext cx="5190697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Total Signups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9772" y="2563713"/>
            <a:ext cx="5190697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~4,140 per month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9772" y="3059212"/>
            <a:ext cx="5190697" cy="452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17.6%</a:t>
            </a:r>
            <a:endParaRPr lang="en-US" sz="3550" dirty="0"/>
          </a:p>
        </p:txBody>
      </p:sp>
      <p:sp>
        <p:nvSpPr>
          <p:cNvPr id="9" name="Text 7"/>
          <p:cNvSpPr/>
          <p:nvPr/>
        </p:nvSpPr>
        <p:spPr>
          <a:xfrm>
            <a:off x="699772" y="3664744"/>
            <a:ext cx="5190697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Acquisition → Onboarded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9772" y="3992166"/>
            <a:ext cx="5190697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728 approvals per month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99772" y="4487664"/>
            <a:ext cx="5190697" cy="452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35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98.7%</a:t>
            </a:r>
            <a:endParaRPr lang="en-US" sz="3550" dirty="0"/>
          </a:p>
        </p:txBody>
      </p:sp>
      <p:sp>
        <p:nvSpPr>
          <p:cNvPr id="12" name="Text 10"/>
          <p:cNvSpPr/>
          <p:nvPr/>
        </p:nvSpPr>
        <p:spPr>
          <a:xfrm>
            <a:off x="699772" y="5093196"/>
            <a:ext cx="5190697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Approved → Drive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9772" y="5420618"/>
            <a:ext cx="5190697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2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Median 1.4 days to first trip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9772" y="5748437"/>
            <a:ext cx="5190697" cy="472678"/>
          </a:xfrm>
          <a:prstGeom prst="roundRect">
            <a:avLst>
              <a:gd name="adj" fmla="val 12170"/>
            </a:avLst>
          </a:prstGeom>
          <a:solidFill>
            <a:srgbClr val="183A13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691" y="5922268"/>
            <a:ext cx="171148" cy="13692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144757" y="5884664"/>
            <a:ext cx="5218379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Recoverable with no new spend:</a:t>
            </a:r>
            <a:r>
              <a:rPr lang="en-US" sz="105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+183 to +344 approvals per month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269278" y="1220688"/>
            <a:ext cx="5267292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Three Decisions Needed Today</a:t>
            </a:r>
            <a:endParaRPr lang="en-US" sz="13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9278" y="1562298"/>
            <a:ext cx="5267292" cy="103981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501444" y="1718270"/>
            <a:ext cx="4879158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Fund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6501444" y="2045692"/>
            <a:ext cx="4879158" cy="400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One product squad for six weeks on </a:t>
            </a:r>
            <a:r>
              <a:rPr lang="en-US" sz="10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in-app document capture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</a:t>
            </a:r>
            <a:r>
              <a:rPr lang="en-US" sz="10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+81 to +134 approvals per month</a:t>
            </a:r>
            <a:endParaRPr lang="en-US" sz="105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69278" y="2715518"/>
            <a:ext cx="5267292" cy="103981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501444" y="2871490"/>
            <a:ext cx="4879158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Decline</a:t>
            </a:r>
            <a:endParaRPr lang="en-US" sz="1300" dirty="0"/>
          </a:p>
        </p:txBody>
      </p:sp>
      <p:sp>
        <p:nvSpPr>
          <p:cNvPr id="23" name="Text 18"/>
          <p:cNvSpPr/>
          <p:nvPr/>
        </p:nvSpPr>
        <p:spPr>
          <a:xfrm>
            <a:off x="6501444" y="3198912"/>
            <a:ext cx="4879158" cy="4004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 </a:t>
            </a:r>
            <a:r>
              <a:rPr lang="en-US" sz="10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5x budget for CAMP_WA_002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the win is mostly who was on the list, and 5x is arithmetically impossible</a:t>
            </a:r>
            <a:endParaRPr lang="en-US" sz="10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9278" y="3868737"/>
            <a:ext cx="5267292" cy="839589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501444" y="4024709"/>
            <a:ext cx="4879158" cy="2140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Redirect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6501444" y="4352131"/>
            <a:ext cx="4879158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Airport-catchment acquisition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→ fund a </a:t>
            </a:r>
            <a:r>
              <a:rPr lang="en-US" sz="105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night-window incentive</a:t>
            </a:r>
            <a:r>
              <a:rPr lang="en-US" sz="10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instead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6269278" y="4835922"/>
            <a:ext cx="5876877" cy="200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050" i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Registered-to-Active looks after itself. Onboarding is the whole game.</a:t>
            </a:r>
            <a:endParaRPr lang="en-US" sz="10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CA4065D7-3E6E-4F9E-DE07-9EBB926B2F08}"/>
                  </a:ext>
                </a:extLst>
              </p14:cNvPr>
              <p14:cNvContentPartPr/>
              <p14:nvPr/>
            </p14:nvContentPartPr>
            <p14:xfrm>
              <a:off x="11185303" y="6636990"/>
              <a:ext cx="720" cy="6408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CA4065D7-3E6E-4F9E-DE07-9EBB926B2F0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059303" y="6574350"/>
                <a:ext cx="252000" cy="189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8F2039D0-61B5-8F14-EDB6-63D58C78D7B0}"/>
              </a:ext>
            </a:extLst>
          </p:cNvPr>
          <p:cNvGrpSpPr/>
          <p:nvPr/>
        </p:nvGrpSpPr>
        <p:grpSpPr>
          <a:xfrm>
            <a:off x="11223463" y="6616110"/>
            <a:ext cx="828360" cy="119880"/>
            <a:chOff x="11223463" y="6616110"/>
            <a:chExt cx="828360" cy="119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C324708-CF78-9D6E-AB86-72DA957AF94C}"/>
                    </a:ext>
                  </a:extLst>
                </p14:cNvPr>
                <p14:cNvContentPartPr/>
                <p14:nvPr/>
              </p14:nvContentPartPr>
              <p14:xfrm>
                <a:off x="11245783" y="6616110"/>
                <a:ext cx="806040" cy="97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C324708-CF78-9D6E-AB86-72DA957AF94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182783" y="6553470"/>
                  <a:ext cx="931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91A4707-4AE2-AD43-B002-F4E37DD8E34B}"/>
                    </a:ext>
                  </a:extLst>
                </p14:cNvPr>
                <p14:cNvContentPartPr/>
                <p14:nvPr/>
              </p14:nvContentPartPr>
              <p14:xfrm>
                <a:off x="11223463" y="6685950"/>
                <a:ext cx="696600" cy="500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91A4707-4AE2-AD43-B002-F4E37DD8E34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60463" y="6623310"/>
                  <a:ext cx="822240" cy="17568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8397"/>
            <a:ext cx="10868745" cy="9368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Nine in ten captains we lose were never rejected. They stopped.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784747"/>
            <a:ext cx="4127992" cy="234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Where the Loss Sits — by Document</a:t>
            </a:r>
            <a:endParaRPr lang="en-US" sz="14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2171700"/>
          <a:ext cx="4127992" cy="2867549"/>
        </p:xfrm>
        <a:graphic>
          <a:graphicData uri="http://schemas.openxmlformats.org/drawingml/2006/table">
            <a:tbl>
              <a:tblPr/>
              <a:tblGrid>
                <a:gridCol w="20639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639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73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Document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Lost Share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Registration Certificate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5,433 (29.9%)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Insurance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3,309 (18.2%)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Fitness Certificate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2,669 (14.7%)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Permit (Auto/Cab)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2,630 (14.5%)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Driving Licence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2,594 (14.3%)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73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Aadhaar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1,546 (8.5%)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161528" y="1784747"/>
            <a:ext cx="6374943" cy="234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How the 18,180 Dropouts Left</a:t>
            </a:r>
            <a:endParaRPr lang="en-US" sz="1450" dirty="0"/>
          </a:p>
        </p:txBody>
      </p:sp>
      <p:graphicFrame>
        <p:nvGraphicFramePr>
          <p:cNvPr id="6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1528" y="2171700"/>
          <a:ext cx="6374943" cy="2503623"/>
        </p:xfrm>
        <a:graphic>
          <a:graphicData uri="http://schemas.openxmlformats.org/drawingml/2006/table">
            <a:tbl>
              <a:tblPr/>
              <a:tblGrid>
                <a:gridCol w="21249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49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498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73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Behaviour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Captains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91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Passed one document, never started the next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9,727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53.5%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91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Rejected once, never tried again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6,791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37.4%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05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Never uploaded anything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1,425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7.8%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38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Ran out of their 3 attempts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237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1.3%</a:t>
                      </a:r>
                      <a:endParaRPr lang="en-US" sz="115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49886" marR="14988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161528" y="4840883"/>
            <a:ext cx="6374943" cy="776486"/>
          </a:xfrm>
          <a:prstGeom prst="roundRect">
            <a:avLst>
              <a:gd name="adj" fmla="val 8107"/>
            </a:avLst>
          </a:prstGeom>
          <a:solidFill>
            <a:srgbClr val="3D3D42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1344" y="5048052"/>
            <a:ext cx="187320" cy="1498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648481" y="5000526"/>
            <a:ext cx="57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Only 1.3% of the captains we lose are a policy decision. The other 98.7% is friction we control.</a:t>
            </a:r>
            <a:endParaRPr lang="en-US" sz="1150" dirty="0"/>
          </a:p>
        </p:txBody>
      </p:sp>
      <p:sp>
        <p:nvSpPr>
          <p:cNvPr id="10" name="Text 5"/>
          <p:cNvSpPr/>
          <p:nvPr/>
        </p:nvSpPr>
        <p:spPr>
          <a:xfrm>
            <a:off x="5161528" y="5770166"/>
            <a:ext cx="63749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1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 Registration Certificate is the worst step in the business — 17% of submissions fail there. Insurance is second, and hurts more, because those captains had already cleared everything else.</a:t>
            </a:r>
            <a:endParaRPr lang="en-US" sz="115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FE8847BA-6217-A636-5BD9-4065DEE080D6}"/>
                  </a:ext>
                </a:extLst>
              </p14:cNvPr>
              <p14:cNvContentPartPr/>
              <p14:nvPr/>
            </p14:nvContentPartPr>
            <p14:xfrm>
              <a:off x="11134903" y="6626910"/>
              <a:ext cx="918720" cy="1296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FE8847BA-6217-A636-5BD9-4065DEE080D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72263" y="6564270"/>
                <a:ext cx="1044360" cy="2552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10480"/>
            <a:ext cx="10868745" cy="4844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Cheap phones fail on paper documents, not on cards</a:t>
            </a:r>
            <a:endParaRPr lang="en-US" sz="30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376462"/>
            <a:ext cx="5807525" cy="26700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210050"/>
            <a:ext cx="5807525" cy="720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The three affected documents are full-page paper covered in small print. The three unaffected ones are pocket-sized laminated cards.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46% of our signups are on basic handsets.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6853562" y="1358305"/>
            <a:ext cx="4682909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Key Findings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3562" y="1764010"/>
            <a:ext cx="4682909" cy="12162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03786" y="1938040"/>
            <a:ext cx="4258660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Retry success is high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7103786" y="2325588"/>
            <a:ext cx="4258660" cy="480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Captains who try again mostly get through —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79% eventually pass</a:t>
            </a: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the Registration Certificate</a:t>
            </a:r>
            <a:endParaRPr lang="en-US" sz="12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3562" y="3125589"/>
            <a:ext cx="4682909" cy="145653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103786" y="3299619"/>
            <a:ext cx="4258660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Rejection messages do no work</a:t>
            </a:r>
            <a:endParaRPr lang="en-US" sz="1500" dirty="0"/>
          </a:p>
        </p:txBody>
      </p:sp>
      <p:sp>
        <p:nvSpPr>
          <p:cNvPr id="11" name="Text 6"/>
          <p:cNvSpPr/>
          <p:nvPr/>
        </p:nvSpPr>
        <p:spPr>
          <a:xfrm>
            <a:off x="7103786" y="3687167"/>
            <a:ext cx="4258660" cy="720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Captains retry about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62% of the time</a:t>
            </a: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whichever of the seven reasons they were given. "Blurred photo" and "document expired" produce identical behaviour.</a:t>
            </a:r>
            <a:endParaRPr lang="en-US" sz="12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853562" y="4727476"/>
            <a:ext cx="4682909" cy="145653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103786" y="4901505"/>
            <a:ext cx="4258660" cy="2421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Tested and rejected: queue speed</a:t>
            </a:r>
            <a:endParaRPr lang="en-US" sz="1500" dirty="0"/>
          </a:p>
        </p:txBody>
      </p:sp>
      <p:sp>
        <p:nvSpPr>
          <p:cNvPr id="14" name="Text 8"/>
          <p:cNvSpPr/>
          <p:nvPr/>
        </p:nvSpPr>
        <p:spPr>
          <a:xfrm>
            <a:off x="7103786" y="5289054"/>
            <a:ext cx="4258660" cy="7209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Checked within 2 hours → captains continue at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84.0%</a:t>
            </a: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; after more than a day →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84.1%</a:t>
            </a:r>
            <a:r>
              <a:rPr lang="en-US" sz="12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. </a:t>
            </a:r>
            <a:r>
              <a:rPr lang="en-US" sz="12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Do not fund a queue-speed project.</a:t>
            </a:r>
            <a:endParaRPr lang="en-US" sz="12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BB43AB10-4CC3-5BEB-5757-A8C431A284F5}"/>
                  </a:ext>
                </a:extLst>
              </p14:cNvPr>
              <p14:cNvContentPartPr/>
              <p14:nvPr/>
            </p14:nvContentPartPr>
            <p14:xfrm>
              <a:off x="11135623" y="6613230"/>
              <a:ext cx="928080" cy="128160"/>
            </p14:xfrm>
          </p:contentPart>
        </mc:Choice>
        <mc:Fallback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BB43AB10-4CC3-5BEB-5757-A8C431A284F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1072983" y="6550590"/>
                <a:ext cx="1053720" cy="2538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01848"/>
            <a:ext cx="10868745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CAMP_WA_002 is not an 18-point win. It is a list of survivors.</a:t>
            </a:r>
            <a:endParaRPr lang="en-US" sz="32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969393"/>
            <a:ext cx="5796214" cy="24922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4647704"/>
            <a:ext cx="579621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It only goes out once a captain has cleared two documents — none of the 7,981 recipients got it earlier</a:t>
            </a:r>
            <a:r>
              <a:rPr lang="en-US" sz="13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, and clearing the Licence and Registration Certificate is where 44% of our loss happens.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867452" y="1948656"/>
            <a:ext cx="4669018" cy="2584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Two Checks a Real Message Effect Must Pass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7452" y="2393156"/>
          <a:ext cx="4669018" cy="2404110"/>
        </p:xfrm>
        <a:graphic>
          <a:graphicData uri="http://schemas.openxmlformats.org/drawingml/2006/table">
            <a:tbl>
              <a:tblPr/>
              <a:tblGrid>
                <a:gridCol w="23345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4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89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Cohort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Approved Rate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0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Message delivered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31.5%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20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Message failed to send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31.8%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20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Tapped the message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30.8%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891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Ignored it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32.0%</a:t>
                      </a:r>
                      <a:endParaRPr lang="en-US" sz="13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65391" marR="165391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867452" y="4996061"/>
            <a:ext cx="4669018" cy="1174055"/>
          </a:xfrm>
          <a:prstGeom prst="roundRect">
            <a:avLst>
              <a:gd name="adj" fmla="val 5917"/>
            </a:avLst>
          </a:prstGeom>
          <a:solidFill>
            <a:srgbClr val="4B3F0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2747" y="5242123"/>
            <a:ext cx="206667" cy="16529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7404709" y="5186164"/>
            <a:ext cx="3966468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On 5x:</a:t>
            </a:r>
            <a:r>
              <a:rPr lang="en-US" sz="130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it already reaches 55% of everyone eligible — full coverage is &lt;2x, not 5x. Extend it (WhatsApp is nearly free), but hold 20% back as a control.</a:t>
            </a:r>
            <a:endParaRPr lang="en-US" sz="13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72739B74-540D-D0AA-E052-ADBCB2700AF0}"/>
                  </a:ext>
                </a:extLst>
              </p14:cNvPr>
              <p14:cNvContentPartPr/>
              <p14:nvPr/>
            </p14:nvContentPartPr>
            <p14:xfrm>
              <a:off x="11141023" y="6635190"/>
              <a:ext cx="898920" cy="1278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72739B74-540D-D0AA-E052-ADBCB2700AF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078023" y="6572190"/>
                <a:ext cx="1024560" cy="253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476349"/>
            <a:ext cx="10868745" cy="3230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The airport isn't short of captains. It's short of captains at night.</a:t>
            </a:r>
            <a:endParaRPr lang="en-US" sz="2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968871"/>
            <a:ext cx="4205579" cy="2449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542903"/>
            <a:ext cx="5308269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59.8%</a:t>
            </a:r>
            <a:endParaRPr lang="en-US" sz="2650" dirty="0"/>
          </a:p>
        </p:txBody>
      </p:sp>
      <p:sp>
        <p:nvSpPr>
          <p:cNvPr id="5" name="Text 2"/>
          <p:cNvSpPr/>
          <p:nvPr/>
        </p:nvSpPr>
        <p:spPr>
          <a:xfrm>
            <a:off x="661475" y="3984030"/>
            <a:ext cx="5308269" cy="161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Terminal Fill Rate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661475" y="4210050"/>
            <a:ext cx="5308269" cy="134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vs. 96–97% everywhere else in the city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661475" y="4525169"/>
            <a:ext cx="5308269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86%</a:t>
            </a:r>
            <a:endParaRPr lang="en-US" sz="2650" dirty="0"/>
          </a:p>
        </p:txBody>
      </p:sp>
      <p:sp>
        <p:nvSpPr>
          <p:cNvPr id="8" name="Text 5"/>
          <p:cNvSpPr/>
          <p:nvPr/>
        </p:nvSpPr>
        <p:spPr>
          <a:xfrm>
            <a:off x="661475" y="4966295"/>
            <a:ext cx="5308269" cy="161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Shortfall is 8pm–4am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61475" y="5192316"/>
            <a:ext cx="5308269" cy="134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17,979-hour night shortfall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61475" y="5507434"/>
            <a:ext cx="5308269" cy="341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5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1.31</a:t>
            </a:r>
            <a:endParaRPr lang="en-US" sz="2650" dirty="0"/>
          </a:p>
        </p:txBody>
      </p:sp>
      <p:sp>
        <p:nvSpPr>
          <p:cNvPr id="11" name="Text 8"/>
          <p:cNvSpPr/>
          <p:nvPr/>
        </p:nvSpPr>
        <p:spPr>
          <a:xfrm>
            <a:off x="661475" y="5948561"/>
            <a:ext cx="5308269" cy="161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Extra Rides / Captain Night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61475" y="6174581"/>
            <a:ext cx="5308269" cy="134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8000"/>
              </a:lnSpc>
              <a:buNone/>
            </a:pPr>
            <a:r>
              <a:rPr lang="en-US" sz="8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vs. 0.19 at midday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6228301" y="960834"/>
            <a:ext cx="5308269" cy="1614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Why More Captains Won't Fix It — Trip Destination Economics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6310634"/>
              </p:ext>
            </p:extLst>
          </p:nvPr>
        </p:nvGraphicFramePr>
        <p:xfrm>
          <a:off x="6331585" y="1225622"/>
          <a:ext cx="5308270" cy="954659"/>
        </p:xfrm>
        <a:graphic>
          <a:graphicData uri="http://schemas.openxmlformats.org/drawingml/2006/table">
            <a:tbl>
              <a:tblPr/>
              <a:tblGrid>
                <a:gridCol w="1061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16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6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1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1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Airport trip ends in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Another fare within 20 min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Captain declines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Pay per hour tied up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077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City centre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42%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53%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8.6%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₹263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4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Suburb (23 km out)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41%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17%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21.0%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₹176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03370" marR="103370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" name="Text 11"/>
          <p:cNvSpPr/>
          <p:nvPr/>
        </p:nvSpPr>
        <p:spPr>
          <a:xfrm>
            <a:off x="6274146" y="3884017"/>
            <a:ext cx="5917854" cy="1343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48,720 captain-hours going spare</a:t>
            </a:r>
            <a:r>
              <a:rPr lang="en-US" sz="80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in hours already covered — three times more waste than shortage.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6221951" y="3200400"/>
            <a:ext cx="5308269" cy="436562"/>
          </a:xfrm>
          <a:prstGeom prst="roundRect">
            <a:avLst>
              <a:gd name="adj" fmla="val 9945"/>
            </a:avLst>
          </a:prstGeom>
          <a:solidFill>
            <a:srgbClr val="3D3D42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2405" y="3284339"/>
            <a:ext cx="129180" cy="10328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31585" y="3284339"/>
            <a:ext cx="4869237" cy="268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Acquisition buys headcount; it cannot buy hours</a:t>
            </a:r>
            <a:r>
              <a:rPr lang="en-US" sz="80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and ~a quarter of "unmet" airport demand is a captain who accepted, then cancelled.</a:t>
            </a:r>
            <a:endParaRPr lang="en-US" sz="8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DBC46B2-BFA0-E459-A624-567E2AD93DC6}"/>
                  </a:ext>
                </a:extLst>
              </p14:cNvPr>
              <p14:cNvContentPartPr/>
              <p14:nvPr/>
            </p14:nvContentPartPr>
            <p14:xfrm>
              <a:off x="11070463" y="6599910"/>
              <a:ext cx="1010160" cy="132840"/>
            </p14:xfrm>
          </p:contentPart>
        </mc:Choice>
        <mc:Fallback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DBC46B2-BFA0-E459-A624-567E2AD93DC6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1007823" y="6537270"/>
                <a:ext cx="1135800" cy="2584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4888"/>
            <a:ext cx="10868745" cy="4118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What starts Monday, and how we'll know it worked</a:t>
            </a:r>
            <a:endParaRPr lang="en-US" sz="25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1475" y="1156791"/>
          <a:ext cx="10868745" cy="4083842"/>
        </p:xfrm>
        <a:graphic>
          <a:graphicData uri="http://schemas.openxmlformats.org/drawingml/2006/table">
            <a:tbl>
              <a:tblPr/>
              <a:tblGrid>
                <a:gridCol w="21737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374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128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#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Action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Worth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Cost &amp; Lead Time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We'll Know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26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In-app capture for the three paper documents: auto-capture, on-device blur check, worked example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+81–134 approvals/mo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 squad, 6 weeks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Unreadable-photo rejections per submission, by handset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267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Chase stalled captains; start with the 2,500 who cleared all but Insurance; pair with financed insurance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+90–181 approvals/mo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CRM + 1 partner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Approval rate against a </a:t>
                      </a: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20% holdout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6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3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Move half the paid digital budget to referral — judged on orders per 100 signups, not approvals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+18 approvals/mo, more orders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Reallocation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Orders per 100 signups by channel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386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Pay existing captains to work the terminals 8pm–4am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232–387 rides/day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₹2.9–7.2 lakh/mo = </a:t>
                      </a: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₹41–62 per ride</a:t>
                      </a: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 vs ₹279 fare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Terminal fill rate 8pm–4am, </a:t>
                      </a: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one terminal only at first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009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5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Guarantee a suburban-drop captain a ride waiting back at the terminal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₹176 → ₹216 per hour occupied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No cash cost, 4–8 weeks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5E0DF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Suburban decline rate</a:t>
                      </a:r>
                      <a:endParaRPr lang="en-US" sz="10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131796" marR="131796" marT="6350" marB="6350" anchor="ctr">
                    <a:lnL w="12700" cap="flat" cmpd="sng" algn="ctr">
                      <a:solidFill>
                        <a:srgbClr val="05050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141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050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61475" y="5371505"/>
            <a:ext cx="10868745" cy="644128"/>
          </a:xfrm>
          <a:prstGeom prst="roundRect">
            <a:avLst>
              <a:gd name="adj" fmla="val 8594"/>
            </a:avLst>
          </a:prstGeom>
          <a:solidFill>
            <a:srgbClr val="3D3D4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234" y="5521127"/>
            <a:ext cx="164699" cy="13176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89692" y="5509419"/>
            <a:ext cx="10308769" cy="3788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Not doing:</a:t>
            </a:r>
            <a:r>
              <a:rPr lang="en-US" sz="1000" dirty="0">
                <a:solidFill>
                  <a:srgbClr val="FFFFF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activation work (98.7% already drive) • verification speed (tested, no effect) • city programmes (2.9 points apart, vs 8.8 across handsets) • a blanket suburban bonus (nine to twelve times the fare per extra ride) • airport-catchment acquisition</a:t>
            </a:r>
            <a:endParaRPr lang="en-US" sz="1000" dirty="0"/>
          </a:p>
        </p:txBody>
      </p:sp>
      <p:sp>
        <p:nvSpPr>
          <p:cNvPr id="3" name="Text 3"/>
          <p:cNvSpPr/>
          <p:nvPr/>
        </p:nvSpPr>
        <p:spPr>
          <a:xfrm>
            <a:off x="661475" y="6133703"/>
            <a:ext cx="11478330" cy="189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E5E0DF"/>
                </a:solidFill>
                <a:latin typeface="Roboto Bold" pitchFamily="34" charset="0"/>
                <a:ea typeface="Roboto Bold" pitchFamily="34" charset="-122"/>
                <a:cs typeface="Roboto Bold" pitchFamily="34" charset="-120"/>
              </a:rPr>
              <a:t>Total onboarding prize: +183 to +344 approvals a month on a base of 728 — and every point converts almost one-for-one into a driving captain.</a:t>
            </a:r>
            <a:endParaRPr lang="en-US" sz="1000" dirty="0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6D8170AD-593E-00D3-DE1B-353E0952A73F}"/>
                  </a:ext>
                </a:extLst>
              </p14:cNvPr>
              <p14:cNvContentPartPr/>
              <p14:nvPr/>
            </p14:nvContentPartPr>
            <p14:xfrm>
              <a:off x="11143183" y="6618270"/>
              <a:ext cx="915120" cy="1112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6D8170AD-593E-00D3-DE1B-353E0952A73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1080183" y="6555270"/>
                <a:ext cx="1040760" cy="2368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F2F2F3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959</Words>
  <Application>Microsoft Office PowerPoint</Application>
  <PresentationFormat>Widescreen</PresentationFormat>
  <Paragraphs>144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Poppins Light</vt:lpstr>
      <vt:lpstr>Roboto Light</vt:lpstr>
      <vt:lpstr>Arial</vt:lpstr>
      <vt:lpstr>Roboto Bold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Harsh Ramchandani</cp:lastModifiedBy>
  <cp:revision>3</cp:revision>
  <dcterms:created xsi:type="dcterms:W3CDTF">2026-09-10T10:30:58Z</dcterms:created>
  <dcterms:modified xsi:type="dcterms:W3CDTF">2026-09-10T10:36:08Z</dcterms:modified>
</cp:coreProperties>
</file>