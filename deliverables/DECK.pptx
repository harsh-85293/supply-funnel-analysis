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11480"/>
            <a:ext cx="11185855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r>
              <a:rPr sz="1100" b="1" i="0">
                <a:solidFill>
                  <a:srgbClr val="C0392B"/>
                </a:solidFill>
                <a:latin typeface="Calibri"/>
              </a:rPr>
              <a:t>SLIDE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95528"/>
            <a:ext cx="11185855" cy="100584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r>
              <a:rPr sz="1900" b="1" i="0">
                <a:solidFill>
                  <a:srgbClr val="1A1A1A"/>
                </a:solidFill>
                <a:latin typeface="Calibri"/>
              </a:rPr>
              <a:t>The ask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02920" y="1234440"/>
          <a:ext cx="11185854" cy="162763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260396"/>
                <a:gridCol w="4925458"/>
              </a:tblGrid>
              <a:tr h="406908">
                <a:tc>
                  <a:txBody>
                    <a:bodyPr/>
                    <a:lstStyle/>
                    <a:p>
                      <a:pPr algn="l"/>
                      <a:r>
                        <a:rPr sz="1100" i="0">
                          <a:solidFill>
                            <a:srgbClr val="1A1A1A"/>
                          </a:solidFill>
                          <a:latin typeface="Calibri"/>
                        </a:rPr>
                        <a:t>Signups, 1 Jan – 15 Jun 2026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i="0">
                          <a:solidFill>
                            <a:srgbClr val="1A1A1A"/>
                          </a:solidFill>
                          <a:latin typeface="Calibri"/>
                        </a:rPr>
                        <a:t>22,561 (~4,140 a month)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406908">
                <a:tc>
                  <a:txBody>
                    <a:bodyPr/>
                    <a:lstStyle/>
                    <a:p>
                      <a:pPr algn="l"/>
                      <a:r>
                        <a:rPr sz="1100" i="0">
                          <a:solidFill>
                            <a:srgbClr val="1A1A1A"/>
                          </a:solidFill>
                          <a:latin typeface="Calibri"/>
                        </a:rPr>
                        <a:t>Approved — Acquisition to Onboarded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1A1A1A"/>
                          </a:solidFill>
                          <a:latin typeface="Calibri"/>
                        </a:rPr>
                        <a:t>17.6%</a:t>
                      </a:r>
                      <a:r>
                        <a:rPr sz="1100" i="0">
                          <a:solidFill>
                            <a:srgbClr val="1A1A1A"/>
                          </a:solidFill>
                          <a:latin typeface="Calibri"/>
                        </a:rPr>
                        <a:t> (728 a month)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406908">
                <a:tc>
                  <a:txBody>
                    <a:bodyPr/>
                    <a:lstStyle/>
                    <a:p>
                      <a:pPr algn="l"/>
                      <a:r>
                        <a:rPr sz="1100" i="0">
                          <a:solidFill>
                            <a:srgbClr val="1A1A1A"/>
                          </a:solidFill>
                          <a:latin typeface="Calibri"/>
                        </a:rPr>
                        <a:t>Approved captains who go on to drive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1A1A1A"/>
                          </a:solidFill>
                          <a:latin typeface="Calibri"/>
                        </a:rPr>
                        <a:t>98.7%</a:t>
                      </a:r>
                      <a:r>
                        <a:rPr sz="1100" i="0">
                          <a:solidFill>
                            <a:srgbClr val="1A1A1A"/>
                          </a:solidFill>
                          <a:latin typeface="Calibri"/>
                        </a:rPr>
                        <a:t>, median 1.4 days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406908">
                <a:tc>
                  <a:txBody>
                    <a:bodyPr/>
                    <a:lstStyle/>
                    <a:p>
                      <a:pPr algn="l"/>
                      <a:r>
                        <a:rPr sz="1100" i="0">
                          <a:solidFill>
                            <a:srgbClr val="1A1A1A"/>
                          </a:solidFill>
                          <a:latin typeface="Calibri"/>
                        </a:rPr>
                        <a:t>Recoverable with no new spend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1A1A1A"/>
                          </a:solidFill>
                          <a:latin typeface="Calibri"/>
                        </a:rPr>
                        <a:t>+183 to +344 approvals a month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02920" y="3008376"/>
            <a:ext cx="11185855" cy="384048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r>
              <a:rPr sz="1200" b="1" i="0">
                <a:solidFill>
                  <a:srgbClr val="1A1A1A"/>
                </a:solidFill>
                <a:latin typeface="Calibri"/>
              </a:rPr>
              <a:t>Three decisions I need today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429000"/>
            <a:ext cx="11185855" cy="1938528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spcAft>
                <a:spcPts val="600"/>
              </a:spcAft>
            </a:pPr>
            <a:r>
              <a:rPr sz="1300" b="0" i="0">
                <a:solidFill>
                  <a:srgbClr val="1A1A1A"/>
                </a:solidFill>
                <a:latin typeface="Calibri"/>
              </a:rPr>
              <a:t>•  </a:t>
            </a:r>
            <a:r>
              <a:rPr sz="1300" b="1" i="0">
                <a:solidFill>
                  <a:srgbClr val="1A1A1A"/>
                </a:solidFill>
                <a:latin typeface="Calibri"/>
              </a:rPr>
              <a:t>Fund</a:t>
            </a:r>
            <a:r>
              <a:rPr sz="1300" b="0" i="0">
                <a:solidFill>
                  <a:srgbClr val="1A1A1A"/>
                </a:solidFill>
                <a:latin typeface="Calibri"/>
              </a:rPr>
              <a:t> one product squad for six weeks on in-app document capture → </a:t>
            </a:r>
            <a:r>
              <a:rPr sz="1300" b="1" i="0">
                <a:solidFill>
                  <a:srgbClr val="1A1A1A"/>
                </a:solidFill>
                <a:latin typeface="Calibri"/>
              </a:rPr>
              <a:t>+81 to +134 approvals a month</a:t>
            </a:r>
          </a:p>
          <a:p>
            <a:pPr>
              <a:spcAft>
                <a:spcPts val="600"/>
              </a:spcAft>
            </a:pPr>
            <a:r>
              <a:rPr sz="1300" b="0" i="0">
                <a:solidFill>
                  <a:srgbClr val="1A1A1A"/>
                </a:solidFill>
                <a:latin typeface="Calibri"/>
              </a:rPr>
              <a:t>•  </a:t>
            </a:r>
            <a:r>
              <a:rPr sz="1300" b="1" i="0">
                <a:solidFill>
                  <a:srgbClr val="1A1A1A"/>
                </a:solidFill>
                <a:latin typeface="Calibri"/>
              </a:rPr>
              <a:t>Decline</a:t>
            </a:r>
            <a:r>
              <a:rPr sz="1300" b="0" i="0">
                <a:solidFill>
                  <a:srgbClr val="1A1A1A"/>
                </a:solidFill>
                <a:latin typeface="Calibri"/>
              </a:rPr>
              <a:t> the 5x budget for CAMP_WA_002 → the win is mostly who was on the list, and 5x is arithmetically impossible</a:t>
            </a:r>
          </a:p>
          <a:p>
            <a:pPr>
              <a:spcAft>
                <a:spcPts val="600"/>
              </a:spcAft>
            </a:pPr>
            <a:r>
              <a:rPr sz="1300" b="0" i="0">
                <a:solidFill>
                  <a:srgbClr val="1A1A1A"/>
                </a:solidFill>
                <a:latin typeface="Calibri"/>
              </a:rPr>
              <a:t>•  </a:t>
            </a:r>
            <a:r>
              <a:rPr sz="1300" b="1" i="0">
                <a:solidFill>
                  <a:srgbClr val="1A1A1A"/>
                </a:solidFill>
                <a:latin typeface="Calibri"/>
              </a:rPr>
              <a:t>Decline</a:t>
            </a:r>
            <a:r>
              <a:rPr sz="1300" b="0" i="0">
                <a:solidFill>
                  <a:srgbClr val="1A1A1A"/>
                </a:solidFill>
                <a:latin typeface="Calibri"/>
              </a:rPr>
              <a:t> airport-catchment acquisition → fund a night-window incentive instead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5422392"/>
            <a:ext cx="11185855" cy="384048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r>
              <a:rPr sz="1200" b="0" i="1">
                <a:solidFill>
                  <a:srgbClr val="1A1A1A"/>
                </a:solidFill>
                <a:latin typeface="Calibri"/>
              </a:rPr>
              <a:t>Registered-to-Active looks after itself. Onboarding is the whole game.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11185855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900" b="0" i="0">
                <a:solidFill>
                  <a:srgbClr val="6B6B6B"/>
                </a:solidFill>
                <a:latin typeface="Calibri"/>
              </a:rPr>
              <a:t>Captain Acquisition, Supply  —  30 June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91495" y="6473952"/>
            <a:ext cx="100584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r"/>
            <a:r>
              <a:rPr sz="900" b="0" i="0">
                <a:solidFill>
                  <a:srgbClr val="6B6B6B"/>
                </a:solidFill>
                <a:latin typeface="Calibri"/>
              </a:rPr>
              <a:t>1 / 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11480"/>
            <a:ext cx="11185855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r>
              <a:rPr sz="1100" b="1" i="0">
                <a:solidFill>
                  <a:srgbClr val="C0392B"/>
                </a:solidFill>
                <a:latin typeface="Calibri"/>
              </a:rPr>
              <a:t>SLIDE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95528"/>
            <a:ext cx="11185855" cy="100584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r>
              <a:rPr sz="1900" b="1" i="0">
                <a:solidFill>
                  <a:srgbClr val="1A1A1A"/>
                </a:solidFill>
                <a:latin typeface="Calibri"/>
              </a:rPr>
              <a:t>Nine in ten captains we lose were never rejected. They stopped.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02920" y="1234440"/>
          <a:ext cx="11185852" cy="2724912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930331"/>
                <a:gridCol w="727312"/>
                <a:gridCol w="727312"/>
                <a:gridCol w="539686"/>
                <a:gridCol w="4785505"/>
                <a:gridCol w="864342"/>
                <a:gridCol w="611364"/>
              </a:tblGrid>
              <a:tr h="389273">
                <a:tc>
                  <a:txBody>
                    <a:bodyPr/>
                    <a:lstStyle/>
                    <a:p>
                      <a:pPr algn="l"/>
                      <a:r>
                        <a:rPr sz="1000" b="1" i="0">
                          <a:solidFill>
                            <a:srgbClr val="1A1A1A"/>
                          </a:solidFill>
                          <a:latin typeface="Calibri"/>
                        </a:rPr>
                        <a:t>Where the loss sits</a:t>
                      </a:r>
                    </a:p>
                  </a:txBody>
                  <a:tcPr marL="54864" marR="54864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 i="0">
                          <a:solidFill>
                            <a:srgbClr val="1A1A1A"/>
                          </a:solidFill>
                          <a:latin typeface="Calibri"/>
                        </a:rPr>
                        <a:t>Lost</a:t>
                      </a:r>
                    </a:p>
                  </a:txBody>
                  <a:tcPr marL="54864" marR="54864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 i="0">
                          <a:solidFill>
                            <a:srgbClr val="1A1A1A"/>
                          </a:solidFill>
                          <a:latin typeface="Calibri"/>
                        </a:rPr>
                        <a:t>Share</a:t>
                      </a:r>
                    </a:p>
                  </a:txBody>
                  <a:tcPr marL="54864" marR="54864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</a:p>
                  </a:txBody>
                  <a:tcPr marL="54864" marR="54864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 i="0">
                          <a:solidFill>
                            <a:srgbClr val="1A1A1A"/>
                          </a:solidFill>
                          <a:latin typeface="Calibri"/>
                        </a:rPr>
                        <a:t>How the 18,180 dropouts left</a:t>
                      </a:r>
                    </a:p>
                  </a:txBody>
                  <a:tcPr marL="54864" marR="54864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 i="0">
                          <a:solidFill>
                            <a:srgbClr val="1A1A1A"/>
                          </a:solidFill>
                          <a:latin typeface="Calibri"/>
                        </a:rPr>
                        <a:t>Captains</a:t>
                      </a:r>
                    </a:p>
                  </a:txBody>
                  <a:tcPr marL="54864" marR="54864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 i="0">
                          <a:solidFill>
                            <a:srgbClr val="1A1A1A"/>
                          </a:solidFill>
                          <a:latin typeface="Calibri"/>
                        </a:rPr>
                        <a:t>Share</a:t>
                      </a:r>
                    </a:p>
                  </a:txBody>
                  <a:tcPr marL="54864" marR="54864" marT="18288" marB="18288" anchor="ctr">
                    <a:solidFill>
                      <a:srgbClr val="F2F2F2"/>
                    </a:solidFill>
                  </a:tcPr>
                </a:tc>
              </a:tr>
              <a:tr h="389273">
                <a:tc>
                  <a:txBody>
                    <a:bodyPr/>
                    <a:lstStyle/>
                    <a:p>
                      <a:pPr algn="l"/>
                      <a:r>
                        <a:rPr sz="1000" b="1" i="0">
                          <a:solidFill>
                            <a:srgbClr val="1A1A1A"/>
                          </a:solidFill>
                          <a:latin typeface="Calibri"/>
                        </a:rPr>
                        <a:t>Registration Certificate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 i="0">
                          <a:solidFill>
                            <a:srgbClr val="1A1A1A"/>
                          </a:solidFill>
                          <a:latin typeface="Calibri"/>
                        </a:rPr>
                        <a:t>5,433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 i="0">
                          <a:solidFill>
                            <a:srgbClr val="1A1A1A"/>
                          </a:solidFill>
                          <a:latin typeface="Calibri"/>
                        </a:rPr>
                        <a:t>29.9%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1A1A1A"/>
                          </a:solidFill>
                          <a:latin typeface="Calibri"/>
                        </a:rPr>
                        <a:t>Passed one document, never started the next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1A1A1A"/>
                          </a:solidFill>
                          <a:latin typeface="Calibri"/>
                        </a:rPr>
                        <a:t>9,727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1A1A1A"/>
                          </a:solidFill>
                          <a:latin typeface="Calibri"/>
                        </a:rPr>
                        <a:t>53.5%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389273"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1A1A1A"/>
                          </a:solidFill>
                          <a:latin typeface="Calibri"/>
                        </a:rPr>
                        <a:t>Insurance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1A1A1A"/>
                          </a:solidFill>
                          <a:latin typeface="Calibri"/>
                        </a:rPr>
                        <a:t>3,309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1A1A1A"/>
                          </a:solidFill>
                          <a:latin typeface="Calibri"/>
                        </a:rPr>
                        <a:t>18.2%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1A1A1A"/>
                          </a:solidFill>
                          <a:latin typeface="Calibri"/>
                        </a:rPr>
                        <a:t>Rejected once, never tried again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1A1A1A"/>
                          </a:solidFill>
                          <a:latin typeface="Calibri"/>
                        </a:rPr>
                        <a:t>6,791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1A1A1A"/>
                          </a:solidFill>
                          <a:latin typeface="Calibri"/>
                        </a:rPr>
                        <a:t>37.4%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389273"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1A1A1A"/>
                          </a:solidFill>
                          <a:latin typeface="Calibri"/>
                        </a:rPr>
                        <a:t>Fitness Certificate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1A1A1A"/>
                          </a:solidFill>
                          <a:latin typeface="Calibri"/>
                        </a:rPr>
                        <a:t>2,669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1A1A1A"/>
                          </a:solidFill>
                          <a:latin typeface="Calibri"/>
                        </a:rPr>
                        <a:t>14.7%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1A1A1A"/>
                          </a:solidFill>
                          <a:latin typeface="Calibri"/>
                        </a:rPr>
                        <a:t>Never uploaded anything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1A1A1A"/>
                          </a:solidFill>
                          <a:latin typeface="Calibri"/>
                        </a:rPr>
                        <a:t>1,425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1A1A1A"/>
                          </a:solidFill>
                          <a:latin typeface="Calibri"/>
                        </a:rPr>
                        <a:t>7.8%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389273"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1A1A1A"/>
                          </a:solidFill>
                          <a:latin typeface="Calibri"/>
                        </a:rPr>
                        <a:t>Permit </a:t>
                      </a:r>
                      <a:r>
                        <a:rPr sz="1000" b="0" i="1">
                          <a:solidFill>
                            <a:srgbClr val="1A1A1A"/>
                          </a:solidFill>
                          <a:latin typeface="Calibri"/>
                        </a:rPr>
                        <a:t>(Auto/Cab)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1A1A1A"/>
                          </a:solidFill>
                          <a:latin typeface="Calibri"/>
                        </a:rPr>
                        <a:t>2,630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1A1A1A"/>
                          </a:solidFill>
                          <a:latin typeface="Calibri"/>
                        </a:rPr>
                        <a:t>14.5%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 i="0">
                          <a:solidFill>
                            <a:srgbClr val="1A1A1A"/>
                          </a:solidFill>
                          <a:latin typeface="Calibri"/>
                        </a:rPr>
                        <a:t>Ran out of their 3 attempts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 i="0">
                          <a:solidFill>
                            <a:srgbClr val="1A1A1A"/>
                          </a:solidFill>
                          <a:latin typeface="Calibri"/>
                        </a:rPr>
                        <a:t>237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 i="0">
                          <a:solidFill>
                            <a:srgbClr val="1A1A1A"/>
                          </a:solidFill>
                          <a:latin typeface="Calibri"/>
                        </a:rPr>
                        <a:t>1.3%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389273"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1A1A1A"/>
                          </a:solidFill>
                          <a:latin typeface="Calibri"/>
                        </a:rPr>
                        <a:t>Driving Licence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1A1A1A"/>
                          </a:solidFill>
                          <a:latin typeface="Calibri"/>
                        </a:rPr>
                        <a:t>2,594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1A1A1A"/>
                          </a:solidFill>
                          <a:latin typeface="Calibri"/>
                        </a:rPr>
                        <a:t>14.3%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389274"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1A1A1A"/>
                          </a:solidFill>
                          <a:latin typeface="Calibri"/>
                        </a:rPr>
                        <a:t>Aadhaar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1A1A1A"/>
                          </a:solidFill>
                          <a:latin typeface="Calibri"/>
                        </a:rPr>
                        <a:t>1,546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1A1A1A"/>
                          </a:solidFill>
                          <a:latin typeface="Calibri"/>
                        </a:rPr>
                        <a:t>8.5%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02920" y="4105656"/>
            <a:ext cx="11185855" cy="621792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r>
              <a:rPr sz="1200" b="1" i="0">
                <a:solidFill>
                  <a:srgbClr val="1A1A1A"/>
                </a:solidFill>
                <a:latin typeface="Calibri"/>
              </a:rPr>
              <a:t>Only 1.3% of the captains we lose are a policy decision. The other 98.7% is friction we control.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764024"/>
            <a:ext cx="11185855" cy="859536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r>
              <a:rPr sz="1200" b="0" i="0">
                <a:solidFill>
                  <a:srgbClr val="1A1A1A"/>
                </a:solidFill>
                <a:latin typeface="Calibri"/>
              </a:rPr>
              <a:t>The Registration Certificate is the worst step in the business — 17% of submissions fail there. Insurance is second, and hurts more, because those captains had already cleared everything else.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11185855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900" b="0" i="0">
                <a:solidFill>
                  <a:srgbClr val="6B6B6B"/>
                </a:solidFill>
                <a:latin typeface="Calibri"/>
              </a:rPr>
              <a:t>Captain Acquisition, Supply  —  30 June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91495" y="6473952"/>
            <a:ext cx="100584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r"/>
            <a:r>
              <a:rPr sz="900" b="0" i="0">
                <a:solidFill>
                  <a:srgbClr val="6B6B6B"/>
                </a:solidFill>
                <a:latin typeface="Calibri"/>
              </a:rPr>
              <a:t>2 / 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11480"/>
            <a:ext cx="11185855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r>
              <a:rPr sz="1100" b="1" i="0">
                <a:solidFill>
                  <a:srgbClr val="C0392B"/>
                </a:solidFill>
                <a:latin typeface="Calibri"/>
              </a:rPr>
              <a:t>SLIDE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95528"/>
            <a:ext cx="11185855" cy="100584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r>
              <a:rPr sz="1900" b="1" i="0">
                <a:solidFill>
                  <a:srgbClr val="1A1A1A"/>
                </a:solidFill>
                <a:latin typeface="Calibri"/>
              </a:rPr>
              <a:t>Cheap phones fail on paper documents, not on cards</a:t>
            </a:r>
          </a:p>
        </p:txBody>
      </p:sp>
      <p:pic>
        <p:nvPicPr>
          <p:cNvPr id="4" name="Picture 3" descr="device_document_g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54533" y="1234440"/>
            <a:ext cx="6682628" cy="307238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02920" y="4453128"/>
            <a:ext cx="11185855" cy="407822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r>
              <a:rPr sz="900" b="0" i="0">
                <a:solidFill>
                  <a:srgbClr val="1A1A1A"/>
                </a:solidFill>
                <a:latin typeface="Calibri"/>
              </a:rPr>
              <a:t>The three affected documents are full-page paper covered in small print. The three unaffected ones are pocket-sized laminated cards. </a:t>
            </a:r>
            <a:r>
              <a:rPr sz="900" b="1" i="0">
                <a:solidFill>
                  <a:srgbClr val="1A1A1A"/>
                </a:solidFill>
                <a:latin typeface="Calibri"/>
              </a:rPr>
              <a:t>46% of our signups are on basic handsets.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897526"/>
            <a:ext cx="11185855" cy="1115567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spcAft>
                <a:spcPts val="600"/>
              </a:spcAft>
            </a:pPr>
            <a:r>
              <a:rPr sz="1000" b="0" i="0">
                <a:solidFill>
                  <a:srgbClr val="1A1A1A"/>
                </a:solidFill>
                <a:latin typeface="Calibri"/>
              </a:rPr>
              <a:t>•  </a:t>
            </a:r>
            <a:r>
              <a:rPr sz="1000" b="1" i="0">
                <a:solidFill>
                  <a:srgbClr val="1A1A1A"/>
                </a:solidFill>
                <a:latin typeface="Calibri"/>
              </a:rPr>
              <a:t>Captains who try again mostly get through</a:t>
            </a:r>
            <a:r>
              <a:rPr sz="1000" b="0" i="0">
                <a:solidFill>
                  <a:srgbClr val="1A1A1A"/>
                </a:solidFill>
                <a:latin typeface="Calibri"/>
              </a:rPr>
              <a:t> — 79% eventually pass the Registration Certificate</a:t>
            </a:r>
          </a:p>
          <a:p>
            <a:pPr>
              <a:spcAft>
                <a:spcPts val="600"/>
              </a:spcAft>
            </a:pPr>
            <a:r>
              <a:rPr sz="1000" b="0" i="0">
                <a:solidFill>
                  <a:srgbClr val="1A1A1A"/>
                </a:solidFill>
                <a:latin typeface="Calibri"/>
              </a:rPr>
              <a:t>•  </a:t>
            </a:r>
            <a:r>
              <a:rPr sz="1000" b="1" i="0">
                <a:solidFill>
                  <a:srgbClr val="1A1A1A"/>
                </a:solidFill>
                <a:latin typeface="Calibri"/>
              </a:rPr>
              <a:t>Our rejection message does no work:</a:t>
            </a:r>
            <a:r>
              <a:rPr sz="1000" b="0" i="0">
                <a:solidFill>
                  <a:srgbClr val="1A1A1A"/>
                </a:solidFill>
                <a:latin typeface="Calibri"/>
              </a:rPr>
              <a:t> captains retry about 62% of the time whichever of the seven reasons they were given. "Blurred photo" and "document expired" produce identical behaviour.</a:t>
            </a:r>
          </a:p>
          <a:p>
            <a:pPr>
              <a:spcAft>
                <a:spcPts val="600"/>
              </a:spcAft>
            </a:pPr>
            <a:r>
              <a:rPr sz="1000" b="0" i="0">
                <a:solidFill>
                  <a:srgbClr val="1A1A1A"/>
                </a:solidFill>
                <a:latin typeface="Calibri"/>
              </a:rPr>
              <a:t>•  </a:t>
            </a:r>
            <a:r>
              <a:rPr sz="1000" b="1" i="0">
                <a:solidFill>
                  <a:srgbClr val="1A1A1A"/>
                </a:solidFill>
                <a:latin typeface="Calibri"/>
              </a:rPr>
              <a:t>Tested and rejected:</a:t>
            </a:r>
            <a:r>
              <a:rPr sz="1000" b="0" i="0">
                <a:solidFill>
                  <a:srgbClr val="1A1A1A"/>
                </a:solidFill>
                <a:latin typeface="Calibri"/>
              </a:rPr>
              <a:t> verification speed is not the problem. Checked within 2 hours, captains continue at 84.0%; after more than a day, 84.1%. Do not fund a queue-speed project.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11185855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900" b="0" i="0">
                <a:solidFill>
                  <a:srgbClr val="6B6B6B"/>
                </a:solidFill>
                <a:latin typeface="Calibri"/>
              </a:rPr>
              <a:t>Captain Acquisition, Supply  —  30 June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91495" y="6473952"/>
            <a:ext cx="100584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r"/>
            <a:r>
              <a:rPr sz="900" b="0" i="0">
                <a:solidFill>
                  <a:srgbClr val="6B6B6B"/>
                </a:solidFill>
                <a:latin typeface="Calibri"/>
              </a:rPr>
              <a:t>3 / 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11480"/>
            <a:ext cx="11185855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r>
              <a:rPr sz="1100" b="1" i="0">
                <a:solidFill>
                  <a:srgbClr val="C0392B"/>
                </a:solidFill>
                <a:latin typeface="Calibri"/>
              </a:rPr>
              <a:t>SLIDE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95528"/>
            <a:ext cx="11185855" cy="100584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r>
              <a:rPr sz="1900" b="1" i="0">
                <a:solidFill>
                  <a:srgbClr val="1A1A1A"/>
                </a:solidFill>
                <a:latin typeface="Calibri"/>
              </a:rPr>
              <a:t>CAMP_WA_002 is not an 18-point win. It is a list of survivors.</a:t>
            </a:r>
          </a:p>
        </p:txBody>
      </p:sp>
      <p:pic>
        <p:nvPicPr>
          <p:cNvPr id="4" name="Picture 3" descr="campaign_lad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33148" y="1234440"/>
            <a:ext cx="4525399" cy="1945843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02920" y="3326587"/>
            <a:ext cx="11185855" cy="407822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r>
              <a:rPr sz="900" b="1" i="0">
                <a:solidFill>
                  <a:srgbClr val="1A1A1A"/>
                </a:solidFill>
                <a:latin typeface="Calibri"/>
              </a:rPr>
              <a:t>It only goes out once a captain has cleared two documents — none of the 7,981 recipients got it earlier</a:t>
            </a:r>
            <a:r>
              <a:rPr sz="900" b="0" i="0">
                <a:solidFill>
                  <a:srgbClr val="1A1A1A"/>
                </a:solidFill>
                <a:latin typeface="Calibri"/>
              </a:rPr>
              <a:t>, and clearing the Licence and Registration Certificate is where 44% of our loss happens.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3770985"/>
          <a:ext cx="11185853" cy="1993392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6464289"/>
                <a:gridCol w="1377967"/>
                <a:gridCol w="3343597"/>
              </a:tblGrid>
              <a:tr h="398678">
                <a:tc>
                  <a:txBody>
                    <a:bodyPr/>
                    <a:lstStyle/>
                    <a:p>
                      <a:pPr algn="l"/>
                      <a:r>
                        <a:rPr sz="900" b="1" i="0">
                          <a:solidFill>
                            <a:srgbClr val="1A1A1A"/>
                          </a:solidFill>
                          <a:latin typeface="Calibri"/>
                        </a:rPr>
                        <a:t>Two checks a real message effect must pass</a:t>
                      </a:r>
                    </a:p>
                  </a:txBody>
                  <a:tcPr marL="54864" marR="54864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 i="0">
                          <a:solidFill>
                            <a:srgbClr val="1A1A1A"/>
                          </a:solidFill>
                          <a:latin typeface="Calibri"/>
                        </a:rPr>
                        <a:t>Approved</a:t>
                      </a:r>
                    </a:p>
                  </a:txBody>
                  <a:tcPr marL="54864" marR="54864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</a:p>
                  </a:txBody>
                  <a:tcPr marL="54864" marR="54864" marT="18288" marB="18288" anchor="ctr">
                    <a:solidFill>
                      <a:srgbClr val="F2F2F2"/>
                    </a:solidFill>
                  </a:tcPr>
                </a:tc>
              </a:tr>
              <a:tr h="398678"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Calibri"/>
                        </a:rPr>
                        <a:t>Message delivered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Calibri"/>
                        </a:rPr>
                        <a:t>31.5%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Calibri"/>
                        </a:rPr>
                        <a:t>← no difference vs...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398678"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Calibri"/>
                        </a:rPr>
                        <a:t>Message </a:t>
                      </a:r>
                      <a:r>
                        <a:rPr sz="900" b="1" i="0">
                          <a:solidFill>
                            <a:srgbClr val="1A1A1A"/>
                          </a:solidFill>
                          <a:latin typeface="Calibri"/>
                        </a:rPr>
                        <a:t>failed to send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Calibri"/>
                        </a:rPr>
                        <a:t>31.8%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398678"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Calibri"/>
                        </a:rPr>
                        <a:t>Tapped the message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Calibri"/>
                        </a:rPr>
                        <a:t>30.8%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Calibri"/>
                        </a:rPr>
                        <a:t>← no dose-response vs...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398680"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Calibri"/>
                        </a:rPr>
                        <a:t>Ignored it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Calibri"/>
                        </a:rPr>
                        <a:t>32.0%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02920" y="5910681"/>
            <a:ext cx="11185855" cy="277063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r>
              <a:rPr sz="900" b="1" i="0">
                <a:solidFill>
                  <a:srgbClr val="1A1A1A"/>
                </a:solidFill>
                <a:latin typeface="Calibri"/>
              </a:rPr>
              <a:t>On 5x: it already reaches 55% of everyone eligible — full coverage is &lt;2x, not 5x.</a:t>
            </a:r>
            <a:r>
              <a:rPr sz="900" b="0" i="0">
                <a:solidFill>
                  <a:srgbClr val="1A1A1A"/>
                </a:solidFill>
                <a:latin typeface="Calibri"/>
              </a:rPr>
              <a:t> Extend it (WhatsApp is nearly free), but hold 20% back as a control.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11185855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900" b="0" i="0">
                <a:solidFill>
                  <a:srgbClr val="6B6B6B"/>
                </a:solidFill>
                <a:latin typeface="Calibri"/>
              </a:rPr>
              <a:t>Captain Acquisition, Supply  —  30 June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91495" y="6473952"/>
            <a:ext cx="100584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r"/>
            <a:r>
              <a:rPr sz="900" b="0" i="0">
                <a:solidFill>
                  <a:srgbClr val="6B6B6B"/>
                </a:solidFill>
                <a:latin typeface="Calibri"/>
              </a:rPr>
              <a:t>4 / 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11480"/>
            <a:ext cx="11185855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r>
              <a:rPr sz="1100" b="1" i="0">
                <a:solidFill>
                  <a:srgbClr val="C0392B"/>
                </a:solidFill>
                <a:latin typeface="Calibri"/>
              </a:rPr>
              <a:t>SLIDE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95528"/>
            <a:ext cx="11185855" cy="100584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r>
              <a:rPr sz="1900" b="1" i="0">
                <a:solidFill>
                  <a:srgbClr val="1A1A1A"/>
                </a:solidFill>
                <a:latin typeface="Calibri"/>
              </a:rPr>
              <a:t>The airport isn't short of captains. It's short of captains at night.</a:t>
            </a:r>
          </a:p>
        </p:txBody>
      </p:sp>
      <p:pic>
        <p:nvPicPr>
          <p:cNvPr id="4" name="Picture 3" descr="airport_hour_profi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33004" y="1563624"/>
            <a:ext cx="3125686" cy="1820753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02920" y="3530681"/>
            <a:ext cx="11185855" cy="713231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spcAft>
                <a:spcPts val="600"/>
              </a:spcAft>
            </a:pPr>
            <a:r>
              <a:rPr sz="1000" b="0" i="0">
                <a:solidFill>
                  <a:srgbClr val="1A1A1A"/>
                </a:solidFill>
                <a:latin typeface="Calibri"/>
              </a:rPr>
              <a:t>•  Terminals fill </a:t>
            </a:r>
            <a:r>
              <a:rPr sz="1000" b="1" i="0">
                <a:solidFill>
                  <a:srgbClr val="1A1A1A"/>
                </a:solidFill>
                <a:latin typeface="Calibri"/>
              </a:rPr>
              <a:t>59.8%</a:t>
            </a:r>
            <a:r>
              <a:rPr sz="1000" b="0" i="0">
                <a:solidFill>
                  <a:srgbClr val="1A1A1A"/>
                </a:solidFill>
                <a:latin typeface="Calibri"/>
              </a:rPr>
              <a:t> of requests against </a:t>
            </a:r>
            <a:r>
              <a:rPr sz="1000" b="1" i="0">
                <a:solidFill>
                  <a:srgbClr val="1A1A1A"/>
                </a:solidFill>
                <a:latin typeface="Calibri"/>
              </a:rPr>
              <a:t>96–97%</a:t>
            </a:r>
            <a:r>
              <a:rPr sz="1000" b="0" i="0">
                <a:solidFill>
                  <a:srgbClr val="1A1A1A"/>
                </a:solidFill>
                <a:latin typeface="Calibri"/>
              </a:rPr>
              <a:t> everywhere else in the city — but </a:t>
            </a:r>
            <a:r>
              <a:rPr sz="1000" b="1" i="0">
                <a:solidFill>
                  <a:srgbClr val="1A1A1A"/>
                </a:solidFill>
                <a:latin typeface="Calibri"/>
              </a:rPr>
              <a:t>86% of that shortfall is 8pm–4am</a:t>
            </a:r>
          </a:p>
          <a:p>
            <a:pPr>
              <a:spcAft>
                <a:spcPts val="600"/>
              </a:spcAft>
            </a:pPr>
            <a:r>
              <a:rPr sz="1000" b="0" i="0">
                <a:solidFill>
                  <a:srgbClr val="1A1A1A"/>
                </a:solidFill>
                <a:latin typeface="Calibri"/>
              </a:rPr>
              <a:t>•  </a:t>
            </a:r>
            <a:r>
              <a:rPr sz="1000" b="1" i="0">
                <a:solidFill>
                  <a:srgbClr val="1A1A1A"/>
                </a:solidFill>
                <a:latin typeface="Calibri"/>
              </a:rPr>
              <a:t>48,720 captain-hours going spare</a:t>
            </a:r>
            <a:r>
              <a:rPr sz="1000" b="0" i="0">
                <a:solidFill>
                  <a:srgbClr val="1A1A1A"/>
                </a:solidFill>
                <a:latin typeface="Calibri"/>
              </a:rPr>
              <a:t> in hours already covered, against a </a:t>
            </a:r>
            <a:r>
              <a:rPr sz="1000" b="1" i="0">
                <a:solidFill>
                  <a:srgbClr val="1A1A1A"/>
                </a:solidFill>
                <a:latin typeface="Calibri"/>
              </a:rPr>
              <a:t>17,979-hour shortfall</a:t>
            </a:r>
            <a:r>
              <a:rPr sz="1000" b="0" i="0">
                <a:solidFill>
                  <a:srgbClr val="1A1A1A"/>
                </a:solidFill>
                <a:latin typeface="Calibri"/>
              </a:rPr>
              <a:t> at night — three times more waste than shortage</a:t>
            </a:r>
          </a:p>
          <a:p>
            <a:pPr>
              <a:spcAft>
                <a:spcPts val="600"/>
              </a:spcAft>
            </a:pPr>
            <a:r>
              <a:rPr sz="1000" b="0" i="0">
                <a:solidFill>
                  <a:srgbClr val="1A1A1A"/>
                </a:solidFill>
                <a:latin typeface="Calibri"/>
              </a:rPr>
              <a:t>•  One extra captain online at night converts to </a:t>
            </a:r>
            <a:r>
              <a:rPr sz="1000" b="1" i="0">
                <a:solidFill>
                  <a:srgbClr val="1A1A1A"/>
                </a:solidFill>
                <a:latin typeface="Calibri"/>
              </a:rPr>
              <a:t>1.31 extra rides</a:t>
            </a:r>
            <a:r>
              <a:rPr sz="1000" b="0" i="0">
                <a:solidFill>
                  <a:srgbClr val="1A1A1A"/>
                </a:solidFill>
                <a:latin typeface="Calibri"/>
              </a:rPr>
              <a:t>; at midday, </a:t>
            </a:r>
            <a:r>
              <a:rPr sz="1000" b="1" i="0">
                <a:solidFill>
                  <a:srgbClr val="1A1A1A"/>
                </a:solidFill>
                <a:latin typeface="Calibri"/>
              </a:rPr>
              <a:t>0.19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298776"/>
            <a:ext cx="11185855" cy="277063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r>
              <a:rPr sz="900" b="1" i="0">
                <a:solidFill>
                  <a:srgbClr val="1A1A1A"/>
                </a:solidFill>
                <a:latin typeface="Calibri"/>
              </a:rPr>
              <a:t>And more captains would worsen why they stay away.</a:t>
            </a:r>
            <a:r>
              <a:rPr sz="900" b="0" i="0">
                <a:solidFill>
                  <a:srgbClr val="1A1A1A"/>
                </a:solidFill>
                <a:latin typeface="Calibri"/>
              </a:rPr>
              <a:t> Four in ten airport trips end in a suburb 23 km out: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" y="4612415"/>
          <a:ext cx="11185852" cy="1261872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783694"/>
                <a:gridCol w="664000"/>
                <a:gridCol w="2809232"/>
                <a:gridCol w="1864309"/>
                <a:gridCol w="3064617"/>
              </a:tblGrid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900" b="1" i="0">
                          <a:solidFill>
                            <a:srgbClr val="1A1A1A"/>
                          </a:solidFill>
                          <a:latin typeface="Calibri"/>
                        </a:rPr>
                        <a:t>Airport trip ends in</a:t>
                      </a:r>
                    </a:p>
                  </a:txBody>
                  <a:tcPr marL="54864" marR="54864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 i="0">
                          <a:solidFill>
                            <a:srgbClr val="1A1A1A"/>
                          </a:solidFill>
                          <a:latin typeface="Calibri"/>
                        </a:rPr>
                        <a:t>Share</a:t>
                      </a:r>
                    </a:p>
                  </a:txBody>
                  <a:tcPr marL="54864" marR="54864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 i="0">
                          <a:solidFill>
                            <a:srgbClr val="1A1A1A"/>
                          </a:solidFill>
                          <a:latin typeface="Calibri"/>
                        </a:rPr>
                        <a:t>Another fare within 20 min</a:t>
                      </a:r>
                    </a:p>
                  </a:txBody>
                  <a:tcPr marL="54864" marR="54864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 i="0">
                          <a:solidFill>
                            <a:srgbClr val="1A1A1A"/>
                          </a:solidFill>
                          <a:latin typeface="Calibri"/>
                        </a:rPr>
                        <a:t>Captain declines</a:t>
                      </a:r>
                    </a:p>
                  </a:txBody>
                  <a:tcPr marL="54864" marR="54864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 i="0">
                          <a:solidFill>
                            <a:srgbClr val="1A1A1A"/>
                          </a:solidFill>
                          <a:latin typeface="Calibri"/>
                        </a:rPr>
                        <a:t>Pay per hour it ties them up</a:t>
                      </a:r>
                    </a:p>
                  </a:txBody>
                  <a:tcPr marL="54864" marR="54864" marT="18288" marB="18288" anchor="ctr">
                    <a:solidFill>
                      <a:srgbClr val="F2F2F2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Calibri"/>
                        </a:rPr>
                        <a:t>City centre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Calibri"/>
                        </a:rPr>
                        <a:t>42%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Calibri"/>
                        </a:rPr>
                        <a:t>53%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Calibri"/>
                        </a:rPr>
                        <a:t>8.6%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Calibri"/>
                        </a:rPr>
                        <a:t>₹263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900" b="1" i="0">
                          <a:solidFill>
                            <a:srgbClr val="1A1A1A"/>
                          </a:solidFill>
                          <a:latin typeface="Calibri"/>
                        </a:rPr>
                        <a:t>Suburb (23 km out)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 i="0">
                          <a:solidFill>
                            <a:srgbClr val="1A1A1A"/>
                          </a:solidFill>
                          <a:latin typeface="Calibri"/>
                        </a:rPr>
                        <a:t>41%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 i="0">
                          <a:solidFill>
                            <a:srgbClr val="1A1A1A"/>
                          </a:solidFill>
                          <a:latin typeface="Calibri"/>
                        </a:rPr>
                        <a:t>17%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 i="0">
                          <a:solidFill>
                            <a:srgbClr val="1A1A1A"/>
                          </a:solidFill>
                          <a:latin typeface="Calibri"/>
                        </a:rPr>
                        <a:t>21.0%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 i="0">
                          <a:solidFill>
                            <a:srgbClr val="1A1A1A"/>
                          </a:solidFill>
                          <a:latin typeface="Calibri"/>
                        </a:rPr>
                        <a:t>₹176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02920" y="6020591"/>
            <a:ext cx="11185855" cy="277063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r>
              <a:rPr sz="900" b="1" i="0">
                <a:solidFill>
                  <a:srgbClr val="1A1A1A"/>
                </a:solidFill>
                <a:latin typeface="Calibri"/>
              </a:rPr>
              <a:t>Acquisition buys headcount; it cannot buy hours</a:t>
            </a:r>
            <a:r>
              <a:rPr sz="900" b="0" i="0">
                <a:solidFill>
                  <a:srgbClr val="1A1A1A"/>
                </a:solidFill>
                <a:latin typeface="Calibri"/>
              </a:rPr>
              <a:t> — and ~a quarter of "unmet" airport demand is a captain who accepted, then cancelled.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73952"/>
            <a:ext cx="11185855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900" b="0" i="0">
                <a:solidFill>
                  <a:srgbClr val="6B6B6B"/>
                </a:solidFill>
                <a:latin typeface="Calibri"/>
              </a:rPr>
              <a:t>Captain Acquisition, Supply  —  30 June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91495" y="6473952"/>
            <a:ext cx="100584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r"/>
            <a:r>
              <a:rPr sz="900" b="0" i="0">
                <a:solidFill>
                  <a:srgbClr val="6B6B6B"/>
                </a:solidFill>
                <a:latin typeface="Calibri"/>
              </a:rPr>
              <a:t>5 / 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11480"/>
            <a:ext cx="11185855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r>
              <a:rPr sz="1100" b="1" i="0">
                <a:solidFill>
                  <a:srgbClr val="C0392B"/>
                </a:solidFill>
                <a:latin typeface="Calibri"/>
              </a:rPr>
              <a:t>SLIDE 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95528"/>
            <a:ext cx="11185855" cy="100584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r>
              <a:rPr sz="1900" b="1" i="0">
                <a:solidFill>
                  <a:srgbClr val="1A1A1A"/>
                </a:solidFill>
                <a:latin typeface="Calibri"/>
              </a:rPr>
              <a:t>What starts Monday, and how we'll know it worked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02920" y="1234440"/>
          <a:ext cx="11185853" cy="2359152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535323"/>
                <a:gridCol w="4870812"/>
                <a:gridCol w="1370352"/>
                <a:gridCol w="1915697"/>
                <a:gridCol w="2493669"/>
              </a:tblGrid>
              <a:tr h="393192"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1A1A1A"/>
                          </a:solidFill>
                          <a:latin typeface="Calibri"/>
                        </a:rPr>
                        <a:t>#</a:t>
                      </a:r>
                    </a:p>
                  </a:txBody>
                  <a:tcPr marL="54864" marR="54864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1A1A1A"/>
                          </a:solidFill>
                          <a:latin typeface="Calibri"/>
                        </a:rPr>
                        <a:t>Action</a:t>
                      </a:r>
                    </a:p>
                  </a:txBody>
                  <a:tcPr marL="54864" marR="54864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1A1A1A"/>
                          </a:solidFill>
                          <a:latin typeface="Calibri"/>
                        </a:rPr>
                        <a:t>Worth</a:t>
                      </a:r>
                    </a:p>
                  </a:txBody>
                  <a:tcPr marL="54864" marR="54864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1A1A1A"/>
                          </a:solidFill>
                          <a:latin typeface="Calibri"/>
                        </a:rPr>
                        <a:t>Cost &amp; lead time</a:t>
                      </a:r>
                    </a:p>
                  </a:txBody>
                  <a:tcPr marL="54864" marR="54864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1A1A1A"/>
                          </a:solidFill>
                          <a:latin typeface="Calibri"/>
                        </a:rPr>
                        <a:t>How we'll know</a:t>
                      </a:r>
                    </a:p>
                  </a:txBody>
                  <a:tcPr marL="54864" marR="54864" marT="18288" marB="18288" anchor="ctr">
                    <a:solidFill>
                      <a:srgbClr val="F2F2F2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1A1A1A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1A1A1A"/>
                          </a:solidFill>
                          <a:latin typeface="Calibri"/>
                        </a:rPr>
                        <a:t>In-app capture for the three paper documents: auto-capture, on-device blur check, worked example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1A1A1A"/>
                          </a:solidFill>
                          <a:latin typeface="Calibri"/>
                        </a:rPr>
                        <a:t>+81–134 approvals/mo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1A1A1A"/>
                          </a:solidFill>
                          <a:latin typeface="Calibri"/>
                        </a:rPr>
                        <a:t>1 squad, 6 weeks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1A1A1A"/>
                          </a:solidFill>
                          <a:latin typeface="Calibri"/>
                        </a:rPr>
                        <a:t>Unreadable-photo rejections per submission, by handset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1A1A1A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1A1A1A"/>
                          </a:solidFill>
                          <a:latin typeface="Calibri"/>
                        </a:rPr>
                        <a:t>Chase stalled captains; start with the 2,500 who cleared all but Insurance; pair with financed insurance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1A1A1A"/>
                          </a:solidFill>
                          <a:latin typeface="Calibri"/>
                        </a:rPr>
                        <a:t>+90–181 approvals/mo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1A1A1A"/>
                          </a:solidFill>
                          <a:latin typeface="Calibri"/>
                        </a:rPr>
                        <a:t>CRM + 1 partner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1A1A1A"/>
                          </a:solidFill>
                          <a:latin typeface="Calibri"/>
                        </a:rPr>
                        <a:t>Approval rate against a </a:t>
                      </a:r>
                      <a:r>
                        <a:rPr sz="1100" b="1" i="0">
                          <a:solidFill>
                            <a:srgbClr val="1A1A1A"/>
                          </a:solidFill>
                          <a:latin typeface="Calibri"/>
                        </a:rPr>
                        <a:t>20% holdout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1A1A1A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1A1A1A"/>
                          </a:solidFill>
                          <a:latin typeface="Calibri"/>
                        </a:rPr>
                        <a:t>Move half the paid digital budget to referral — judged on orders per 100 signups, not approvals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1A1A1A"/>
                          </a:solidFill>
                          <a:latin typeface="Calibri"/>
                        </a:rPr>
                        <a:t>+18 approvals/mo, more orders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1A1A1A"/>
                          </a:solidFill>
                          <a:latin typeface="Calibri"/>
                        </a:rPr>
                        <a:t>Reallocation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1A1A1A"/>
                          </a:solidFill>
                          <a:latin typeface="Calibri"/>
                        </a:rPr>
                        <a:t>Orders per 100 signups by channel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1A1A1A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1A1A1A"/>
                          </a:solidFill>
                          <a:latin typeface="Calibri"/>
                        </a:rPr>
                        <a:t>Pay existing captains to work the terminals 8pm–4am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1A1A1A"/>
                          </a:solidFill>
                          <a:latin typeface="Calibri"/>
                        </a:rPr>
                        <a:t>232–387 rides/day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1A1A1A"/>
                          </a:solidFill>
                          <a:latin typeface="Calibri"/>
                        </a:rPr>
                        <a:t>₹2.9–7.2 lakh/mo = </a:t>
                      </a:r>
                      <a:r>
                        <a:rPr sz="1100" b="1" i="0">
                          <a:solidFill>
                            <a:srgbClr val="1A1A1A"/>
                          </a:solidFill>
                          <a:latin typeface="Calibri"/>
                        </a:rPr>
                        <a:t>₹41–62 per ride</a:t>
                      </a:r>
                      <a:r>
                        <a:rPr sz="1100" b="0" i="0">
                          <a:solidFill>
                            <a:srgbClr val="1A1A1A"/>
                          </a:solidFill>
                          <a:latin typeface="Calibri"/>
                        </a:rPr>
                        <a:t> vs ₹279 fare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1A1A1A"/>
                          </a:solidFill>
                          <a:latin typeface="Calibri"/>
                        </a:rPr>
                        <a:t>Terminal fill rate 8pm–4am, </a:t>
                      </a:r>
                      <a:r>
                        <a:rPr sz="1100" b="1" i="0">
                          <a:solidFill>
                            <a:srgbClr val="1A1A1A"/>
                          </a:solidFill>
                          <a:latin typeface="Calibri"/>
                        </a:rPr>
                        <a:t>one terminal only at first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1A1A1A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1A1A1A"/>
                          </a:solidFill>
                          <a:latin typeface="Calibri"/>
                        </a:rPr>
                        <a:t>Guarantee a suburban-drop captain a ride waiting back at the terminal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1A1A1A"/>
                          </a:solidFill>
                          <a:latin typeface="Calibri"/>
                        </a:rPr>
                        <a:t>₹176 → ₹216 per hour occupied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1A1A1A"/>
                          </a:solidFill>
                          <a:latin typeface="Calibri"/>
                        </a:rPr>
                        <a:t>No cash cost</a:t>
                      </a:r>
                      <a:r>
                        <a:rPr sz="1100" b="0" i="0">
                          <a:solidFill>
                            <a:srgbClr val="1A1A1A"/>
                          </a:solidFill>
                          <a:latin typeface="Calibri"/>
                        </a:rPr>
                        <a:t>, 4–8 weeks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1A1A1A"/>
                          </a:solidFill>
                          <a:latin typeface="Calibri"/>
                        </a:rPr>
                        <a:t>Suburban decline rate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02920" y="3739896"/>
            <a:ext cx="11185855" cy="859536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r>
              <a:rPr sz="1200" b="1" i="0">
                <a:solidFill>
                  <a:srgbClr val="1A1A1A"/>
                </a:solidFill>
                <a:latin typeface="Calibri"/>
              </a:rPr>
              <a:t>Not doing:</a:t>
            </a:r>
            <a:r>
              <a:rPr sz="1200" b="0" i="0">
                <a:solidFill>
                  <a:srgbClr val="1A1A1A"/>
                </a:solidFill>
                <a:latin typeface="Calibri"/>
              </a:rPr>
              <a:t> activation work (98.7% already drive) • verification speed (tested, no effect) • city programmes (2.9 points apart, vs 8.8 across handsets) • a blanket suburban bonus (nine to twelve times the fare per extra ride) • airport-catchment acquisition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636008"/>
            <a:ext cx="11185855" cy="621792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r>
              <a:rPr sz="1200" b="1" i="0">
                <a:solidFill>
                  <a:srgbClr val="1A1A1A"/>
                </a:solidFill>
                <a:latin typeface="Calibri"/>
              </a:rPr>
              <a:t>Total onboarding prize: +183 to +344 approvals a month on a base of 728 — and every point converts almost one-for-one into a driving captain.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11185855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900" b="0" i="0">
                <a:solidFill>
                  <a:srgbClr val="6B6B6B"/>
                </a:solidFill>
                <a:latin typeface="Calibri"/>
              </a:rPr>
              <a:t>Captain Acquisition, Supply  —  30 June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91495" y="6473952"/>
            <a:ext cx="100584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r"/>
            <a:r>
              <a:rPr sz="900" b="0" i="0">
                <a:solidFill>
                  <a:srgbClr val="6B6B6B"/>
                </a:solidFill>
                <a:latin typeface="Calibri"/>
              </a:rPr>
              <a:t>6 / 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